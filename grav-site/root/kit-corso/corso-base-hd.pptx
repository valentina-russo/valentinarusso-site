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969" cy="685798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jp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jp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jpg"/><Relationship Id="rId4" Type="http://schemas.openxmlformats.org/officeDocument/2006/relationships/image" Target="../media/image45.png"/><Relationship Id="rId5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57.png"/><Relationship Id="rId5" Type="http://schemas.openxmlformats.org/officeDocument/2006/relationships/image" Target="../media/image6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5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481" y="571499"/>
            <a:ext cx="4508489" cy="571498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899" y="1778591"/>
            <a:ext cx="3879951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F7F5"/>
                </a:solidFill>
                <a:latin typeface="Outfit"/>
              </a:rPr>
              <a:t>LEZIONE INTRODUTTIVA DI ORIENTAMENTO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899" y="2045290"/>
            <a:ext cx="6381591" cy="2463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600" b="1" i="0">
                <a:solidFill>
                  <a:srgbClr val="FBF7F5"/>
                </a:solidFill>
                <a:latin typeface="Playfair Display"/>
              </a:rPr>
              <a:t>Benvenuti al corso base</a:t>
            </a:r>
          </a:p>
          <a:p>
            <a:pPr algn="l">
              <a:lnSpc>
                <a:spcPct val="104000"/>
              </a:lnSpc>
            </a:pPr>
            <a:r>
              <a:rPr sz="5600" b="1" i="0">
                <a:solidFill>
                  <a:srgbClr val="FBF7F5"/>
                </a:solidFill>
                <a:latin typeface="Playfair Display"/>
              </a:rPr>
              <a:t>di Human 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4657713"/>
            <a:ext cx="2403771" cy="2476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9BFB8"/>
                </a:solidFill>
                <a:latin typeface="Outfit"/>
              </a:rPr>
              <a:t>Formatrice: Valentina Russo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496034"/>
            <a:ext cx="246284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580"/>
                </a:solidFill>
                <a:latin typeface="Outfi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580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384297"/>
            <a:ext cx="2793993" cy="4597389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590" y="2819393"/>
            <a:ext cx="5206987" cy="30924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48" y="6349984"/>
            <a:ext cx="292099" cy="2920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6899" y="425449"/>
            <a:ext cx="203705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PRIMA DI COMINCIARE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47698"/>
            <a:ext cx="2975174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Il tuo Disegno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6064235"/>
            <a:ext cx="2157629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Fig. 1 — Un bodygraph completo.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8890" y="1717175"/>
            <a:ext cx="6058218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Per ottenere il massimo dalla lezione di oggi, assicurati di avere il tuo Disegno sotto mano.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8890" y="2372414"/>
            <a:ext cx="6230350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Se non ce l'hai, vai su valentinarussobg5.com/calcolo-human-design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99" y="6407134"/>
            <a:ext cx="270176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880" y="1193797"/>
            <a:ext cx="3174992" cy="431798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4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899" y="1264540"/>
            <a:ext cx="1917711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CHI VI ACCOMPAGNA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1474089"/>
            <a:ext cx="4397570" cy="749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3A3532"/>
                </a:solidFill>
                <a:latin typeface="Playfair Display"/>
              </a:rPr>
              <a:t>Valentina Russo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2219518"/>
            <a:ext cx="4049194" cy="4787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625D"/>
                </a:solidFill>
                <a:latin typeface="Outfit"/>
              </a:rPr>
              <a:t>Proiettrice (Guida), Autorità Mentale, Profilo 2/4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625D"/>
                </a:solidFill>
                <a:latin typeface="Outfit"/>
              </a:rPr>
              <a:t>Croce di Angolo Destro del Vascello dell'Amore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2916627"/>
            <a:ext cx="5915979" cy="7758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Questo corso arriva da diversi inviti che mi sono arrivati attraverso la divulgazione dello Human Design e del BG5 sul mio canale YouTube.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899" y="3816936"/>
            <a:ext cx="5880530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Mi sento chiamata ad essere al servizio delle persone, ma fuori dal sistema.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899" y="4554725"/>
            <a:ext cx="5855749" cy="891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1">
                <a:solidFill>
                  <a:srgbClr val="7A4F5E"/>
                </a:solidFill>
                <a:latin typeface="Playfair Display"/>
              </a:rPr>
              <a:t>Il mio obiettivo, con questo corso, è fornire gli strumenti base per leggere in autonomia qualsiasi tipo di Disegno, partendo dal vostro.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99" y="6407134"/>
            <a:ext cx="269954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98" y="6349984"/>
            <a:ext cx="292099" cy="292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09598" y="4662575"/>
            <a:ext cx="76200" cy="76200"/>
          </a:xfrm>
          <a:prstGeom prst="ellipse">
            <a:avLst/>
          </a:prstGeom>
          <a:solidFill>
            <a:srgbClr val="FE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6899" y="1934959"/>
            <a:ext cx="2407327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APPROCCIO ALLA LEZIONE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2252458"/>
            <a:ext cx="7297148" cy="221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1">
                <a:solidFill>
                  <a:srgbClr val="3A3532"/>
                </a:solidFill>
                <a:latin typeface="Playfair Display"/>
              </a:rPr>
              <a:t>Ascolta come se fosse la prima volta che senti queste informazioni.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407134"/>
            <a:ext cx="277510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380" y="1968495"/>
            <a:ext cx="3301992" cy="330199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4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598" y="2449209"/>
            <a:ext cx="6908783" cy="6350"/>
          </a:xfrm>
          <a:prstGeom prst="rect">
            <a:avLst/>
          </a:prstGeom>
          <a:solidFill>
            <a:srgbClr val="E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98" y="2973678"/>
            <a:ext cx="6908783" cy="6350"/>
          </a:xfrm>
          <a:prstGeom prst="rect">
            <a:avLst/>
          </a:prstGeom>
          <a:solidFill>
            <a:srgbClr val="E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98" y="3498147"/>
            <a:ext cx="6908783" cy="6350"/>
          </a:xfrm>
          <a:prstGeom prst="rect">
            <a:avLst/>
          </a:prstGeom>
          <a:solidFill>
            <a:srgbClr val="E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98" y="4022616"/>
            <a:ext cx="6908783" cy="6350"/>
          </a:xfrm>
          <a:prstGeom prst="rect">
            <a:avLst/>
          </a:prstGeom>
          <a:solidFill>
            <a:srgbClr val="E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98" y="4547085"/>
            <a:ext cx="6908783" cy="6350"/>
          </a:xfrm>
          <a:prstGeom prst="rect">
            <a:avLst/>
          </a:prstGeom>
          <a:solidFill>
            <a:srgbClr val="E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98" y="5071554"/>
            <a:ext cx="6908783" cy="6350"/>
          </a:xfrm>
          <a:prstGeom prst="rect">
            <a:avLst/>
          </a:prstGeom>
          <a:solidFill>
            <a:srgbClr val="E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98" y="5596023"/>
            <a:ext cx="6908783" cy="6350"/>
          </a:xfrm>
          <a:prstGeom prst="rect">
            <a:avLst/>
          </a:prstGeom>
          <a:solidFill>
            <a:srgbClr val="E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899" y="425449"/>
            <a:ext cx="155988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SETTE PASSAGGI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899" y="647698"/>
            <a:ext cx="4454911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Il programma di oggi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097" y="2045389"/>
            <a:ext cx="3077298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A3532"/>
                </a:solidFill>
                <a:latin typeface="Outfit"/>
              </a:rPr>
              <a:t>Problema: i tempi in cui siamo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9" y="2083489"/>
            <a:ext cx="457199" cy="203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4F5E"/>
                </a:solidFill>
                <a:latin typeface="Outfit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097" y="2569858"/>
            <a:ext cx="4844070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A3532"/>
                </a:solidFill>
                <a:latin typeface="Outfit"/>
              </a:rPr>
              <a:t>Soluzione: perché lo Human Design può aiutarci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899" y="2607958"/>
            <a:ext cx="457199" cy="203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4F5E"/>
                </a:solidFill>
                <a:latin typeface="Outfit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097" y="3094327"/>
            <a:ext cx="3262320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A3532"/>
                </a:solidFill>
                <a:latin typeface="Outfit"/>
              </a:rPr>
              <a:t>Il binario e la sintesi del Disegno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899" y="3132427"/>
            <a:ext cx="457199" cy="203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4F5E"/>
                </a:solidFill>
                <a:latin typeface="Outfi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097" y="3618796"/>
            <a:ext cx="3645812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A3532"/>
                </a:solidFill>
                <a:latin typeface="Outfit"/>
              </a:rPr>
              <a:t>Esercizio pratico: "Il Rosso e il Nero"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899" y="3656896"/>
            <a:ext cx="457199" cy="203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4F5E"/>
                </a:solidFill>
                <a:latin typeface="Outfit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097" y="4143265"/>
            <a:ext cx="2429885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A3532"/>
                </a:solidFill>
                <a:latin typeface="Outfit"/>
              </a:rPr>
              <a:t>Bonus per chi prosegue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899" y="4181365"/>
            <a:ext cx="457199" cy="203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4F5E"/>
                </a:solidFill>
                <a:latin typeface="Outfit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097" y="4667734"/>
            <a:ext cx="2486003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A3532"/>
                </a:solidFill>
                <a:latin typeface="Outfit"/>
              </a:rPr>
              <a:t>Istruzioni per l'iscrizione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899" y="4705834"/>
            <a:ext cx="457199" cy="203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4F5E"/>
                </a:solidFill>
                <a:latin typeface="Outfit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097" y="5192203"/>
            <a:ext cx="2121958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A3532"/>
                </a:solidFill>
                <a:latin typeface="Outfit"/>
              </a:rPr>
              <a:t>Domande e risposte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899" y="5230303"/>
            <a:ext cx="457199" cy="203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4F5E"/>
                </a:solidFill>
                <a:latin typeface="Outfit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256" y="5379627"/>
            <a:ext cx="3498238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L'anello in basso a sinistra si chiude un passo alla volta.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899" y="6407134"/>
            <a:ext cx="270620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5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98" y="6349984"/>
            <a:ext cx="292099" cy="292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09598" y="5213436"/>
            <a:ext cx="76200" cy="76200"/>
          </a:xfrm>
          <a:prstGeom prst="ellipse">
            <a:avLst/>
          </a:prstGeom>
          <a:solidFill>
            <a:srgbClr val="FE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6899" y="1384098"/>
            <a:ext cx="262202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F7F5"/>
                </a:solidFill>
                <a:latin typeface="Outfit"/>
              </a:rPr>
              <a:t>I TEMPI STANNO CAMBIANDO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1771447"/>
            <a:ext cx="10400417" cy="2231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0" i="1">
                <a:solidFill>
                  <a:srgbClr val="FBF7F5"/>
                </a:solidFill>
                <a:latin typeface="Playfair Display"/>
              </a:rPr>
              <a:t>L'attuale direzione verso la quale stiamo andando è, e sarà, uno shock. È un mondo che abbraccerà coloro che vivono e operano come loro stessi. Ciò significherà molto disordine, caos e confusione per coloro che sono persi nella dipendenza da schemi e relazioni. Tutto nella nostra specie è radicato nella dipendenza.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4226014"/>
            <a:ext cx="101448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F7F5"/>
                </a:solidFill>
                <a:latin typeface="Outfit"/>
              </a:rPr>
              <a:t>RA URU HU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4670513"/>
            <a:ext cx="6534610" cy="2793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BF7F5"/>
                </a:solidFill>
                <a:latin typeface="Outfit"/>
              </a:rPr>
              <a:t>La dipendenza significa rinunciare a sé stessi, e alla propria Autorità.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899" y="6407134"/>
            <a:ext cx="272843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580"/>
                </a:solidFill>
                <a:latin typeface="Outfit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580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8" y="6349984"/>
            <a:ext cx="292099" cy="292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2810" y="1437577"/>
            <a:ext cx="6350" cy="4536568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6899" y="425449"/>
            <a:ext cx="262202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I TEMPI STANNO CAMBIANDO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647698"/>
            <a:ext cx="9765339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Dallo schema del mondo attuale a quello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1418527"/>
            <a:ext cx="4671937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OGGI · 16.1 ILLUSIONE / ALLUCINAZIONE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1846456"/>
            <a:ext cx="5084655" cy="7758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Falso entusiasmo. La comunicazione si basa su pretese inevitabilmente non realizzate. Tendenza ad esprimere la fantasia come realtà.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859" y="1418527"/>
            <a:ext cx="3162641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7A4F5E"/>
                </a:solidFill>
                <a:latin typeface="Outfit"/>
              </a:rPr>
              <a:t>DAL 2027 · 20.6 SAGGEZZA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859" y="1846456"/>
            <a:ext cx="5592828" cy="1549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Contemplazione nell'adesso che si traduce nella capacità di applicare la comprensione. Le istituzioni lavorano a beneficio della società, dei valori, degli ideali e dei loro modelli, e di come questi possono essere compresi e applicati. La capacità di trasformare la consapevolezza individuale in impegno e comprensione generali.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99" y="5942395"/>
            <a:ext cx="2664803" cy="342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1">
                <a:solidFill>
                  <a:srgbClr val="7A4F5E"/>
                </a:solidFill>
                <a:latin typeface="Playfair Display"/>
              </a:rPr>
              <a:t>2027: il cambiamento.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899" y="6407134"/>
            <a:ext cx="263175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4406889"/>
            <a:ext cx="5073637" cy="2451094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384" y="4406889"/>
            <a:ext cx="5079987" cy="24510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48" y="6349984"/>
            <a:ext cx="292099" cy="2920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598" y="1960248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98" y="230691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98" y="265358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98" y="3000256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98" y="3346926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98" y="3693595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598" y="4040265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5559" y="1960248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5559" y="230691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05559" y="265358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5559" y="3000256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5559" y="3346926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5559" y="3693595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05559" y="4040265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2810" y="1437577"/>
            <a:ext cx="6350" cy="673207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899" y="425449"/>
            <a:ext cx="182458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TEMPI IN CUI SIAMO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899" y="647698"/>
            <a:ext cx="4572258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La grande transizione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899" y="1418527"/>
            <a:ext cx="5021091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IL NOSTRO PASSATO ERA FOCALIZZATO SU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98" y="1846456"/>
            <a:ext cx="1218403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Competenze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798" y="2193126"/>
            <a:ext cx="507094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Patti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798" y="2539795"/>
            <a:ext cx="1942825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Istituzioni e comunità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798" y="2886465"/>
            <a:ext cx="250222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Concentrazione focalizzata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798" y="3233134"/>
            <a:ext cx="1563334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Sistemi di potere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798" y="3579804"/>
            <a:ext cx="1396981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Autorità fidate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798" y="3926473"/>
            <a:ext cx="171479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Solitudine e lavoro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859" y="1418527"/>
            <a:ext cx="5088877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7A4F5E"/>
                </a:solidFill>
                <a:latin typeface="Outfit"/>
              </a:rPr>
              <a:t>IL NOSTRO FUTURO SARÀ FOCALIZZATO SU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8758" y="1846456"/>
            <a:ext cx="900364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Individuo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8758" y="2193126"/>
            <a:ext cx="1946604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Auto-potenziamento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8758" y="2539795"/>
            <a:ext cx="1541554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Contemplazione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8758" y="2886465"/>
            <a:ext cx="2034281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Abbondanza di spirito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8758" y="3233134"/>
            <a:ext cx="2315204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 nostri talenti e doni unici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8758" y="3579804"/>
            <a:ext cx="1737578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Fidarci di noi stessi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8758" y="3926473"/>
            <a:ext cx="3923846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Abbattere le barriere per legare con gli altri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899" y="6407134"/>
            <a:ext cx="271065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98" y="6349984"/>
            <a:ext cx="292099" cy="292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598" y="1551369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98" y="2206608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98" y="286184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763" y="2204028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763" y="255069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763" y="289736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763" y="4061795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763" y="4408465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1014" y="1437577"/>
            <a:ext cx="6350" cy="4810808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899" y="425449"/>
            <a:ext cx="1105167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SOLUZIONE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99" y="647698"/>
            <a:ext cx="10920925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Unire la visione dello Human Design a quella del BG5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98" y="1437577"/>
            <a:ext cx="4378901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Lo Human Design si occupa della trasformazione personale.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98" y="2092816"/>
            <a:ext cx="4803287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Il BG5 (Business Group 5) è l'applicazione pratica dello Human Design nella vita e nel business.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98" y="2748055"/>
            <a:ext cx="4821733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Il mio approccio nasce dall'unione di queste due visioni dello stesso intero.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1063" y="1418527"/>
            <a:ext cx="5205447" cy="53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CON QUESTO CORSO INTENDO FORNIRE GLI STRUMENTI 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963" y="2090236"/>
            <a:ext cx="2993732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Leggere e interpretare il Disegno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6963" y="2436906"/>
            <a:ext cx="514810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Comprendere le aree sensibili nelle connessioni relazionali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6963" y="2783575"/>
            <a:ext cx="4897076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Conoscere il potenziale individuale nell'ambito 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1063" y="3276294"/>
            <a:ext cx="5709509" cy="53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UNA VOLTA PADRONEGGIATA LA LETTURA BASE, APPROFONDIREMO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6963" y="3948003"/>
            <a:ext cx="3244985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Il Disegno composito di due persone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6963" y="4294673"/>
            <a:ext cx="426977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Il Disegno di un Penta, un gruppo di 3-5 persone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899" y="6407134"/>
            <a:ext cx="272843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382" y="1409696"/>
            <a:ext cx="4444989" cy="483868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9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899" y="425449"/>
            <a:ext cx="1105167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SOLUZIONE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647698"/>
            <a:ext cx="6512274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I vantaggi del condizionamento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2505168"/>
            <a:ext cx="5638611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Per auto-realizzarci relazionalmente e materialmente abbiamo bisogno di connetterci con gli altri.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3185807"/>
            <a:ext cx="5930980" cy="7758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Quando sei allineato con ciò che è corretto per te, entri in relazione proprio con chi sei fatto per connetterti. In questo modo ci si può influenzare reciprocamente in modo costruttivo.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899" y="4124215"/>
            <a:ext cx="5780629" cy="1033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Conoscere sé stessi significa poter ottimizzare la propria energia, porre i confini sani che servono a ciascuno di noi e raggiungere il benessere e la prosperità che sostengano la soddisfazione, il successo, la pace o la sorpresa personale.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899" y="6407134"/>
            <a:ext cx="246284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382" y="1409696"/>
            <a:ext cx="4444989" cy="483868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899" y="425449"/>
            <a:ext cx="3869617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PER SFRUTTARE AL MEGLIO QUESTO CORSO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647698"/>
            <a:ext cx="3770271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Occorre praticare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2723548"/>
            <a:ext cx="6128894" cy="1291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Non esiste una scorciatoia per diventare bravi in questa materia. Le AI possono fornire informazioni sommarie e spesso scorrette, quindi l'unica opzione è imparare "alla vecchia maniera": applicando ciò che si apprende nella vita quotidiana, facendo gli esercizi settimanali e discutendo in classe delle proprie osservazioni.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4228296"/>
            <a:ext cx="5440143" cy="748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1">
                <a:solidFill>
                  <a:srgbClr val="7A4F5E"/>
                </a:solidFill>
                <a:latin typeface="Playfair Display"/>
              </a:rPr>
              <a:t>Non serve essere perfetti. Serve essere onesti con sé stessi.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899" y="6407134"/>
            <a:ext cx="207946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409696"/>
            <a:ext cx="3047992" cy="41465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9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65590" y="2675415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65590" y="3060184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5590" y="3444954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65590" y="3829723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5590" y="4214492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98" y="5724511"/>
            <a:ext cx="1651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99390" y="5724511"/>
            <a:ext cx="165100" cy="381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6981" y="5724511"/>
            <a:ext cx="165100" cy="38100"/>
          </a:xfrm>
          <a:prstGeom prst="rect">
            <a:avLst/>
          </a:prstGeom>
          <a:solidFill>
            <a:srgbClr val="C8C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899" y="425449"/>
            <a:ext cx="3382557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IL BINARIO E LA SINTESI DEL DISEGNO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99" y="647698"/>
            <a:ext cx="5607385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Cosa noti della tua mappa?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98" y="5651486"/>
            <a:ext cx="60032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625D"/>
                </a:solidFill>
                <a:latin typeface="Outfit"/>
              </a:rPr>
              <a:t>Disegno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5289" y="5651486"/>
            <a:ext cx="79946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625D"/>
                </a:solidFill>
                <a:latin typeface="Outfit"/>
              </a:rPr>
              <a:t>Personalità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2881" y="5651486"/>
            <a:ext cx="68689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625D"/>
                </a:solidFill>
                <a:latin typeface="Outfit"/>
              </a:rPr>
              <a:t>Indefinito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899" y="5886435"/>
            <a:ext cx="3321994" cy="374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Fig. 2 — La carta di Valentina Russo, 21 giugno 1988, Saluzzo.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8789" y="2561623"/>
            <a:ext cx="3443565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Il Disegno racconta la tua storia unica.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789" y="2946393"/>
            <a:ext cx="3574136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Ci dice cosa c'è di conscio e di inconscio.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789" y="3331162"/>
            <a:ext cx="4035971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Mostra quale energia è coerente e affidabile.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8789" y="3715931"/>
            <a:ext cx="4207658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Indica dove sei vulnerabile al condizionamento.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8789" y="4100701"/>
            <a:ext cx="4002744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Ci dice se il Disegno è tutto collegato, e come assimili le informazioni.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3689" y="4800390"/>
            <a:ext cx="3096094" cy="311149"/>
          </a:xfrm>
          <a:prstGeom prst="rect">
            <a:avLst/>
          </a:prstGeom>
          <a:noFill/>
          <a:ln w="19050">
            <a:solidFill>
              <a:srgbClr val="0999B3"/>
            </a:solidFill>
            <a:prstDash val="dash"/>
          </a:ln>
        </p:spPr>
        <p:txBody>
          <a:bodyPr wrap="none" lIns="114300" rIns="114300" tIns="57150" bIns="571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76B7D"/>
                </a:solidFill>
                <a:latin typeface="Outfit"/>
              </a:rPr>
              <a:t>Rosso e nero insieme: il quantum di sintesi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899" y="6407134"/>
            <a:ext cx="231727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384297"/>
            <a:ext cx="2793993" cy="459738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9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899" y="425449"/>
            <a:ext cx="3382557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IL BINARIO E LA SINTESI DEL DISEGNO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647698"/>
            <a:ext cx="3083409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Cosa guardare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064235"/>
            <a:ext cx="3089521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Fig. 3 — Centri, canali e porte sulla stessa carta.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010" y="1855584"/>
            <a:ext cx="369077" cy="6159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7A4F5E"/>
                </a:solidFill>
                <a:latin typeface="Playfair Display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0487" y="2147684"/>
            <a:ext cx="737455" cy="453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centri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le funzioni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1123" y="2632763"/>
            <a:ext cx="356964" cy="6159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7A4F5E"/>
                </a:solidFill>
                <a:latin typeface="Playfair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0487" y="2924862"/>
            <a:ext cx="3161530" cy="453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Tipologie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in BG5: Iniziatore, Costruttore, Guida, Valutatore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9092" y="3409941"/>
            <a:ext cx="608995" cy="6159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7A4F5E"/>
                </a:solidFill>
                <a:latin typeface="Playfair Display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487" y="3702041"/>
            <a:ext cx="992598" cy="453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canali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 punti di forza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56" y="4187120"/>
            <a:ext cx="628331" cy="6159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7A4F5E"/>
                </a:solidFill>
                <a:latin typeface="Playfair Display"/>
              </a:rPr>
              <a:t>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0487" y="4479219"/>
            <a:ext cx="1209958" cy="453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porte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 tratti caratteriali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3727" y="4964299"/>
            <a:ext cx="864360" cy="6159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7A4F5E"/>
                </a:solidFill>
                <a:latin typeface="Playfair Display"/>
              </a:rPr>
              <a:t>384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0487" y="5256398"/>
            <a:ext cx="3422673" cy="453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variazioni di linee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le qualità in cui si può esprimere un tratto caratteriale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899" y="6407134"/>
            <a:ext cx="231616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48" y="6349984"/>
            <a:ext cx="292099" cy="292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598" y="1960248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98" y="235771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98" y="275518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98" y="3152656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05559" y="1960248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05559" y="235771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05559" y="275518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05559" y="3152656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2810" y="1437577"/>
            <a:ext cx="6350" cy="4810808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899" y="425449"/>
            <a:ext cx="3382557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IL BINARIO E LA SINTESI DEL DISEGNO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99" y="647698"/>
            <a:ext cx="7581405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Sistema binario e quantum di sintesi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9" y="1418527"/>
            <a:ext cx="2147628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SISTEMA BINARIO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98" y="1846456"/>
            <a:ext cx="3448565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Il sistema è fatto delle parti individuali.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98" y="2243926"/>
            <a:ext cx="2375434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Sono i dettagli sottostanti.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98" y="2641395"/>
            <a:ext cx="224330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Rappresenta gli opposti.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98" y="3038864"/>
            <a:ext cx="2412661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25D"/>
                </a:solidFill>
                <a:latin typeface="Outfit"/>
              </a:rPr>
              <a:t>È come funziona la mente.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859" y="1418527"/>
            <a:ext cx="2575014" cy="292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7A4F5E"/>
                </a:solidFill>
                <a:latin typeface="Outfit"/>
              </a:rPr>
              <a:t>QUANTUM DI SINTESI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8758" y="1846456"/>
            <a:ext cx="2632910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Il quantum di sintesi è il Tutto.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8758" y="2243926"/>
            <a:ext cx="4540588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Il Tutto è maggiore della somma delle singole parti.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8758" y="2641395"/>
            <a:ext cx="1880373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Continuità genetica.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8758" y="3038864"/>
            <a:ext cx="229275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È come funziona il corpo.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899" y="6407134"/>
            <a:ext cx="23917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924045"/>
            <a:ext cx="3809990" cy="380999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9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899" y="425449"/>
            <a:ext cx="3382557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IL BINARIO E LA SINTESI DEL DISEGNO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647698"/>
            <a:ext cx="6701519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La sintesi crea qualcosa di unico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4888" y="2926747"/>
            <a:ext cx="7369490" cy="53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ESISTONO DIVERSI STRATI DI SINTESI, DI CUI TRE SONO QUELLI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3187" y="3611157"/>
            <a:ext cx="6719299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Sintesi della Genetica e della Personalità: ciò che nel Disegno è rosso e nero.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888" y="3598457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3187" y="4034026"/>
            <a:ext cx="414331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Sintesi di due Porte che definiscono un Canale.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888" y="4021326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3187" y="4456895"/>
            <a:ext cx="5985876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Sintesi tra Natura e Nutrimento: ciò che è definito e ciò che non lo è.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888" y="4444195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99" y="6407134"/>
            <a:ext cx="23228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346197"/>
            <a:ext cx="3232142" cy="4635488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39" y="1346197"/>
            <a:ext cx="3232142" cy="4635488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879" y="1346197"/>
            <a:ext cx="3238492" cy="463548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98" y="6349984"/>
            <a:ext cx="292099" cy="292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6899" y="425449"/>
            <a:ext cx="1389091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PRIMO STRATO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647698"/>
            <a:ext cx="6791197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Sintesi genetica: il rosso e il 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941" y="6064235"/>
            <a:ext cx="2339541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13 porte · Mappa genetica inconscia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9841" y="3512732"/>
            <a:ext cx="362965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C48A3A"/>
                </a:solidFill>
                <a:latin typeface="Playfair Display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9363" y="6064235"/>
            <a:ext cx="2733144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13 porte · Mappa della personalità conscia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5180" y="3512732"/>
            <a:ext cx="390635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C48A3A"/>
                </a:solidFill>
                <a:latin typeface="Playfair Display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4731" y="6064235"/>
            <a:ext cx="2100956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26 porte · Canali e centri definiti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99" y="6407134"/>
            <a:ext cx="234394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384297"/>
            <a:ext cx="3301992" cy="459738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4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899" y="425449"/>
            <a:ext cx="168534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SECONDO STRATO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647698"/>
            <a:ext cx="4072975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Sintesi di un canale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064235"/>
            <a:ext cx="2425107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Fig. 4 — Il canale 64-47, Testa e Ajna.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6889" y="2993422"/>
            <a:ext cx="5784629" cy="1175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3A3532"/>
                </a:solidFill>
                <a:latin typeface="Outfit"/>
              </a:rPr>
              <a:t>Quando due porte definite si incontrano, creano un canale. Quel canale determina un punto di forza, definito da un circuito di energia coerente, che a sua volta definisce due centri.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7689" y="4349541"/>
            <a:ext cx="4310131" cy="311149"/>
          </a:xfrm>
          <a:prstGeom prst="rect">
            <a:avLst/>
          </a:prstGeom>
          <a:noFill/>
          <a:ln w="19050">
            <a:solidFill>
              <a:srgbClr val="0999B3"/>
            </a:solidFill>
            <a:prstDash val="dash"/>
          </a:ln>
        </p:spPr>
        <p:txBody>
          <a:bodyPr wrap="none" lIns="114300" rIns="114300" tIns="57150" bIns="571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76B7D"/>
                </a:solidFill>
                <a:latin typeface="Outfit"/>
              </a:rPr>
              <a:t>Le porte 64 e 47 chiudono il circuito: Testa e Ajna si colorano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899" y="6407134"/>
            <a:ext cx="22928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409696"/>
            <a:ext cx="2571744" cy="402589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41" y="1409696"/>
            <a:ext cx="2571744" cy="40258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284" y="1409696"/>
            <a:ext cx="2571744" cy="40258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27" y="1409696"/>
            <a:ext cx="2571744" cy="40258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598" y="6349984"/>
            <a:ext cx="292099" cy="29209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6899" y="425449"/>
            <a:ext cx="168534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SECONDO STRATO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899" y="647698"/>
            <a:ext cx="3672482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Varianti di canale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9495" y="5533416"/>
            <a:ext cx="1251852" cy="411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3A3532"/>
                </a:solidFill>
                <a:latin typeface="Outfit"/>
              </a:rPr>
              <a:t>Metà conscio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3A3532"/>
                </a:solidFill>
                <a:latin typeface="Outfit"/>
              </a:rPr>
              <a:t>e metà inconscio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685" y="5533416"/>
            <a:ext cx="1830256" cy="411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3A3532"/>
                </a:solidFill>
                <a:latin typeface="Outfit"/>
              </a:rPr>
              <a:t>Conscio e metà inconscio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3A3532"/>
                </a:solidFill>
                <a:latin typeface="Outfit"/>
              </a:rPr>
              <a:t>(o viceversa)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9641" y="5533416"/>
            <a:ext cx="893030" cy="411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3A3532"/>
                </a:solidFill>
                <a:latin typeface="Outfit"/>
              </a:rPr>
              <a:t>Totalmente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3A3532"/>
                </a:solidFill>
                <a:latin typeface="Outfit"/>
              </a:rPr>
              <a:t>inconscio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49984" y="5533416"/>
            <a:ext cx="893030" cy="411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3A3532"/>
                </a:solidFill>
                <a:latin typeface="Outfit"/>
              </a:rPr>
              <a:t>Totalmente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3A3532"/>
                </a:solidFill>
                <a:latin typeface="Outfit"/>
              </a:rPr>
              <a:t>conscio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99" y="6064235"/>
            <a:ext cx="4317672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Fig. 5 — Lo stesso canale 64-47 nelle quattro combinazioni possibili.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9" y="6407134"/>
            <a:ext cx="232616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488" y="1371597"/>
            <a:ext cx="2666993" cy="487678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9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598" y="3303964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98" y="3688734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98" y="4073503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98" y="4458272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85081" y="3175079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85081" y="3559849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85081" y="3944618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85081" y="4587157"/>
            <a:ext cx="88900" cy="9525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899" y="425449"/>
            <a:ext cx="139887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TERZO STRATO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99" y="647698"/>
            <a:ext cx="6447599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Sintesi tra natura e nutrimento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9" y="2518463"/>
            <a:ext cx="3856726" cy="53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CENTRO DEFINITO</a:t>
            </a:r>
          </a:p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FUNZIONE COLORATA → NATURA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98" y="3190172"/>
            <a:ext cx="2165853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Quello che dai agli altri.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98" y="3574942"/>
            <a:ext cx="3447565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Ciò che trasmetti: sei un trasmettitore.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98" y="3959711"/>
            <a:ext cx="388739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Una forma affidabile e coerente di energia.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98" y="4344481"/>
            <a:ext cx="602661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Fissa.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98" y="4786400"/>
            <a:ext cx="1450003" cy="311149"/>
          </a:xfrm>
          <a:prstGeom prst="rect">
            <a:avLst/>
          </a:prstGeom>
          <a:noFill/>
          <a:ln w="19050">
            <a:solidFill>
              <a:srgbClr val="0999B3"/>
            </a:solidFill>
            <a:prstDash val="dash"/>
          </a:ln>
        </p:spPr>
        <p:txBody>
          <a:bodyPr wrap="none" lIns="114300" rIns="114300" tIns="57150" bIns="571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76B7D"/>
                </a:solidFill>
                <a:latin typeface="Outfit"/>
              </a:rPr>
              <a:t>Qui: Testa e Ajna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381" y="2389578"/>
            <a:ext cx="4104646" cy="53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CENTRO NON DEFINITO</a:t>
            </a:r>
          </a:p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625D"/>
                </a:solidFill>
                <a:latin typeface="Outfit"/>
              </a:rPr>
              <a:t>FUNZIONE BIANCA → NUTRIMENTO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8280" y="3061288"/>
            <a:ext cx="242710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Ciò che raccogli dagli altri.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8280" y="3446057"/>
            <a:ext cx="3802386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Ciò che ricevi e amplifichi: sei un recettore.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8280" y="3830826"/>
            <a:ext cx="3420451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Una forma incoerente e inaffidabile di energia.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8280" y="4473365"/>
            <a:ext cx="949148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Flessibile.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3180" y="4915285"/>
            <a:ext cx="2222209" cy="311149"/>
          </a:xfrm>
          <a:prstGeom prst="rect">
            <a:avLst/>
          </a:prstGeom>
          <a:noFill/>
          <a:ln w="19050">
            <a:solidFill>
              <a:srgbClr val="0999B3"/>
            </a:solidFill>
            <a:prstDash val="dash"/>
          </a:ln>
        </p:spPr>
        <p:txBody>
          <a:bodyPr wrap="none" lIns="114300" rIns="114300" tIns="57150" bIns="571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76B7D"/>
                </a:solidFill>
                <a:latin typeface="Outfit"/>
              </a:rPr>
              <a:t>Qui: tutti gli altri sette centri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899" y="6407134"/>
            <a:ext cx="234394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409696"/>
            <a:ext cx="4825988" cy="483868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4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585" y="4107051"/>
            <a:ext cx="253999" cy="38100"/>
          </a:xfrm>
          <a:prstGeom prst="rect">
            <a:avLst/>
          </a:prstGeom>
          <a:solidFill>
            <a:srgbClr val="7A4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585" y="4373750"/>
            <a:ext cx="253999" cy="38100"/>
          </a:xfrm>
          <a:prstGeom prst="rect">
            <a:avLst/>
          </a:prstGeom>
          <a:solidFill>
            <a:srgbClr val="E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6899" y="425449"/>
            <a:ext cx="139887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TERZO STRATO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647698"/>
            <a:ext cx="5539933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Siamo fatti per connetterci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0885" y="3191462"/>
            <a:ext cx="5200669" cy="613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532"/>
                </a:solidFill>
                <a:latin typeface="Outfit"/>
              </a:rPr>
              <a:t>Il BG5 (Business Group 5) approfondisce proprio come siamo fatti per collegarci agli altri.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384" y="4018151"/>
            <a:ext cx="2016390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625D"/>
                </a:solidFill>
                <a:latin typeface="Outfit"/>
              </a:rPr>
              <a:t>Natura: ciò che è definito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384" y="4284850"/>
            <a:ext cx="267924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625D"/>
                </a:solidFill>
                <a:latin typeface="Outfit"/>
              </a:rPr>
              <a:t>Nutrimento: ciò che non è definito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899" y="6407134"/>
            <a:ext cx="270176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378" y="1384297"/>
            <a:ext cx="2666993" cy="459738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98" y="6349984"/>
            <a:ext cx="292099" cy="292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899" y="425449"/>
            <a:ext cx="1773582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IL ROSSO E IL NERO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647698"/>
            <a:ext cx="3555467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Esercizio pratico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3835" y="425449"/>
            <a:ext cx="3168880" cy="298449"/>
          </a:xfrm>
          <a:prstGeom prst="rect">
            <a:avLst/>
          </a:prstGeom>
          <a:solidFill>
            <a:srgbClr val="76BEB3"/>
          </a:solidFill>
        </p:spPr>
        <p:txBody>
          <a:bodyPr wrap="none" lIns="114300" rIns="114300" tIns="57150" bIns="571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C3A36"/>
                </a:solidFill>
                <a:latin typeface="Outfit"/>
              </a:rPr>
              <a:t>SCADENZA: ENTRO LA PROSSIMA LEZIONE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2449903"/>
            <a:ext cx="6798976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Stampa quattro copie della risorsa del corso, la trovi nella tua area riservata, e colora i quattro grafici in questa maniera: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198" y="3143242"/>
            <a:ext cx="4342230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Quantum di sintesi del tuo Disegno: rosso e nero.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899" y="3130542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198" y="3502612"/>
            <a:ext cx="3240984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Solo ciò che nel tuo Disegno è rosso.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899" y="3489912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198" y="3861981"/>
            <a:ext cx="317408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Solo ciò che nel tuo Disegno è nero.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99" y="3849281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198" y="4221350"/>
            <a:ext cx="6827868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Solo ciò che nel tuo Disegno è bianco, come a creare un negativo fotografico.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899" y="4208650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899" y="4669620"/>
            <a:ext cx="6659736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Carica le foto o le scansioni dei quattro grafici nel forum e commenta con le sensazioni che hai provato svolgendo l'esercizio.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2678" y="6064235"/>
            <a:ext cx="2123625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Fig. 6 — La risorsa da stampare.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899" y="6407134"/>
            <a:ext cx="231727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375" y="800098"/>
            <a:ext cx="1650996" cy="253999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78" y="1371597"/>
            <a:ext cx="2920993" cy="46100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48" y="6349984"/>
            <a:ext cx="292099" cy="2920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6899" y="425449"/>
            <a:ext cx="361191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ESERCIZIO PRATICO · IL ROSSO E IL NERO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22298"/>
            <a:ext cx="1977830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Esercizio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7203" y="622298"/>
            <a:ext cx="275954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7A4F5E"/>
                </a:solidFill>
                <a:latin typeface="Playfair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6669" y="425449"/>
            <a:ext cx="2353002" cy="298449"/>
          </a:xfrm>
          <a:prstGeom prst="rect">
            <a:avLst/>
          </a:prstGeom>
          <a:solidFill>
            <a:srgbClr val="76BEB3"/>
          </a:solidFill>
        </p:spPr>
        <p:txBody>
          <a:bodyPr wrap="none" lIns="114300" rIns="114300" tIns="57150" bIns="5715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3A36"/>
                </a:solidFill>
                <a:latin typeface="Outfit"/>
              </a:rPr>
              <a:t>ENTRO LA PROSSIMA LEZIONE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198" y="2397218"/>
            <a:ext cx="3859504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Prendi una penna nera, una rossa e una del colore che vuoi.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99" y="2384518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198" y="3039757"/>
            <a:ext cx="4103090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Guarda le porte del tuo Disegno, sia rosse che nere, e colorale.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899" y="3027057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198" y="3682296"/>
            <a:ext cx="1328972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Unisci i canali.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9" y="3669596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198" y="4067066"/>
            <a:ext cx="3238651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Colora col terzo colore i centri che si definiscono attraverso i canali.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899" y="4054366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198" y="4709605"/>
            <a:ext cx="3945737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Verifica che il Disegno combaci con quello di qualsiasi calcolatore.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899" y="4696905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8678" y="6064235"/>
            <a:ext cx="3134305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Il risultato atteso: rosso e nero sullo stesso foglio.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899" y="6407134"/>
            <a:ext cx="255507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375" y="800098"/>
            <a:ext cx="1650996" cy="253999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78" y="1371597"/>
            <a:ext cx="2920993" cy="46100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48" y="6349984"/>
            <a:ext cx="292099" cy="2920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6899" y="425449"/>
            <a:ext cx="361191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ESERCIZIO PRATICO · IL ROSSO E IL NERO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22298"/>
            <a:ext cx="1977830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Esercizio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7203" y="622298"/>
            <a:ext cx="339740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7A4F5E"/>
                </a:solidFill>
                <a:latin typeface="Playfair Display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6669" y="425449"/>
            <a:ext cx="2353002" cy="298449"/>
          </a:xfrm>
          <a:prstGeom prst="rect">
            <a:avLst/>
          </a:prstGeom>
          <a:solidFill>
            <a:srgbClr val="76BEB3"/>
          </a:solidFill>
        </p:spPr>
        <p:txBody>
          <a:bodyPr wrap="none" lIns="114300" rIns="114300" tIns="57150" bIns="5715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3A36"/>
                </a:solidFill>
                <a:latin typeface="Outfit"/>
              </a:rPr>
              <a:t>ENTRO LA PROSSIMA LEZIONE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198" y="2385114"/>
            <a:ext cx="2217637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Prendi una penna rossa.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99" y="2372414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198" y="2769883"/>
            <a:ext cx="3558690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Guarda le porte rosse del tuo Disegno e colorale.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899" y="2757183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198" y="3412422"/>
            <a:ext cx="2328539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Unisci gli eventuali canali.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9" y="3399722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198" y="3797191"/>
            <a:ext cx="3902954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Colora gli eventuali centri che si definiscono attraverso i canali.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899" y="3784491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899" y="4528630"/>
            <a:ext cx="5024981" cy="748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1">
                <a:solidFill>
                  <a:srgbClr val="7A4F5E"/>
                </a:solidFill>
                <a:latin typeface="Playfair Display"/>
              </a:rPr>
              <a:t>Questa è la mappa genetica del tuo inconscio.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8678" y="6064235"/>
            <a:ext cx="1969162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Il risultato atteso: solo il rosso.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899" y="6407134"/>
            <a:ext cx="255396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375" y="800098"/>
            <a:ext cx="1650996" cy="253999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78" y="1371597"/>
            <a:ext cx="2920993" cy="46100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98" y="6349984"/>
            <a:ext cx="292099" cy="2920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6899" y="425449"/>
            <a:ext cx="361191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ESERCIZIO PRATICO · IL ROSSO E IL NERO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22298"/>
            <a:ext cx="1977830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Esercizio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7203" y="622298"/>
            <a:ext cx="323738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7A4F5E"/>
                </a:solidFill>
                <a:latin typeface="Playfair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6669" y="425449"/>
            <a:ext cx="2353002" cy="298449"/>
          </a:xfrm>
          <a:prstGeom prst="rect">
            <a:avLst/>
          </a:prstGeom>
          <a:solidFill>
            <a:srgbClr val="76BEB3"/>
          </a:solidFill>
        </p:spPr>
        <p:txBody>
          <a:bodyPr wrap="none" lIns="114300" rIns="114300" tIns="57150" bIns="5715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3A36"/>
                </a:solidFill>
                <a:latin typeface="Outfit"/>
              </a:rPr>
              <a:t>ENTRO LA PROSSIMA LEZIONE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198" y="2385114"/>
            <a:ext cx="2150740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Prendi una penna nera.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99" y="2372414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198" y="2769883"/>
            <a:ext cx="3491682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Guarda le porte nere del tuo Disegno e colorale.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899" y="2757183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198" y="3412422"/>
            <a:ext cx="2328539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Unisci gli eventuali canali.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9" y="3399722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198" y="3797191"/>
            <a:ext cx="3902954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Colora gli eventuali centri che si definiscono attraverso i canali.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899" y="3784491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899" y="4528630"/>
            <a:ext cx="5766294" cy="748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1">
                <a:solidFill>
                  <a:srgbClr val="7A4F5E"/>
                </a:solidFill>
                <a:latin typeface="Playfair Display"/>
              </a:rPr>
              <a:t>Questa è la mappa della tua personalità conscia.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8678" y="6064235"/>
            <a:ext cx="1921045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Il risultato atteso: solo il nero.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899" y="6407134"/>
            <a:ext cx="262953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375" y="800098"/>
            <a:ext cx="1650996" cy="253999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78" y="1371597"/>
            <a:ext cx="2920993" cy="46100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48" y="6349984"/>
            <a:ext cx="292099" cy="2920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6899" y="425449"/>
            <a:ext cx="3611919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ESERCIZIO PRATICO · IL ROSSO E IL NERO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22298"/>
            <a:ext cx="1977830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Esercizio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7203" y="622298"/>
            <a:ext cx="341963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7A4F5E"/>
                </a:solidFill>
                <a:latin typeface="Playfair Display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6669" y="425449"/>
            <a:ext cx="2353002" cy="298449"/>
          </a:xfrm>
          <a:prstGeom prst="rect">
            <a:avLst/>
          </a:prstGeom>
          <a:solidFill>
            <a:srgbClr val="76BEB3"/>
          </a:solidFill>
        </p:spPr>
        <p:txBody>
          <a:bodyPr wrap="none" lIns="114300" rIns="114300" tIns="57150" bIns="5715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3A36"/>
                </a:solidFill>
                <a:latin typeface="Outfit"/>
              </a:rPr>
              <a:t>ENTRO LA PROSSIMA LEZIONE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198" y="2385114"/>
            <a:ext cx="3357110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Prendi una penna del colore che vuoi.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99" y="2372414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198" y="2769883"/>
            <a:ext cx="4084088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Guarda le porte che nel tuo Disegno non sono definite e colorale.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899" y="2757183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198" y="3412422"/>
            <a:ext cx="2328539" cy="260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Unisci gli eventuali canali.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9" y="3399722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198" y="3797191"/>
            <a:ext cx="3902954" cy="518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A3532"/>
                </a:solidFill>
                <a:latin typeface="Outfit"/>
              </a:rPr>
              <a:t>Colora gli eventuali centri che si definiscono attraverso i canali.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899" y="3784491"/>
            <a:ext cx="457199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4F5E"/>
                </a:solidFill>
                <a:latin typeface="Outfi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899" y="4528630"/>
            <a:ext cx="5901088" cy="748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1">
                <a:solidFill>
                  <a:srgbClr val="7A4F5E"/>
                </a:solidFill>
                <a:latin typeface="Playfair Display"/>
              </a:rPr>
              <a:t>Questo è ciò che non è la tua natura, ed è dove vieni condizionato dagli altri.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8678" y="6064235"/>
            <a:ext cx="2740923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625D"/>
                </a:solidFill>
                <a:latin typeface="Outfit"/>
              </a:rPr>
              <a:t>Il punto di partenza: tutto ciò che è bianco.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899" y="6407134"/>
            <a:ext cx="256063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4F5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8" y="6349984"/>
            <a:ext cx="292099" cy="292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09598" y="4538651"/>
            <a:ext cx="76200" cy="76200"/>
          </a:xfrm>
          <a:prstGeom prst="ellipse">
            <a:avLst/>
          </a:prstGeom>
          <a:solidFill>
            <a:srgbClr val="FE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6899" y="2058982"/>
            <a:ext cx="4641267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EBD59"/>
                </a:solidFill>
                <a:latin typeface="Outfit"/>
              </a:rPr>
              <a:t>BONUS PER CHI HA PARTECIPATO A QUESTA LEZIONE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2344732"/>
            <a:ext cx="7315594" cy="14970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800" b="1" i="0">
                <a:solidFill>
                  <a:srgbClr val="FBF7F5"/>
                </a:solidFill>
                <a:latin typeface="Playfair Display"/>
              </a:rPr>
              <a:t>Una Prima Lettura base</a:t>
            </a:r>
          </a:p>
          <a:p>
            <a:pPr algn="l">
              <a:lnSpc>
                <a:spcPct val="106000"/>
              </a:lnSpc>
            </a:pPr>
            <a:r>
              <a:rPr sz="4800" b="1" i="0">
                <a:solidFill>
                  <a:srgbClr val="FBF7F5"/>
                </a:solidFill>
                <a:latin typeface="Playfair Display"/>
              </a:rPr>
              <a:t>del valore di 210 €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3992553"/>
            <a:ext cx="4953861" cy="2793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9D7DC"/>
                </a:solidFill>
                <a:latin typeface="Outfit"/>
              </a:rPr>
              <a:t>Da utilizzare per sé stessi, o da regalare a qualcuno.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6407134"/>
            <a:ext cx="258174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C4CB"/>
                </a:solidFill>
                <a:latin typeface="Outfit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C4CB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8" y="6349984"/>
            <a:ext cx="292099" cy="292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598" y="1513777"/>
            <a:ext cx="2552694" cy="19050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16291" y="1513777"/>
            <a:ext cx="2552694" cy="19050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22984" y="1513777"/>
            <a:ext cx="2552694" cy="19050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29677" y="1513777"/>
            <a:ext cx="2552694" cy="19050"/>
          </a:xfrm>
          <a:prstGeom prst="rect">
            <a:avLst/>
          </a:prstGeom>
          <a:solidFill>
            <a:srgbClr val="C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899" y="425449"/>
            <a:ext cx="2646356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ISTRUZIONI PER L'ISCRIZIONE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899" y="647698"/>
            <a:ext cx="5137661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Come iscriversi e pagare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899" y="2097975"/>
            <a:ext cx="2830045" cy="709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A3532"/>
                </a:solidFill>
                <a:latin typeface="Outfit"/>
              </a:rPr>
              <a:t>Vai sulla pagina del corso e scegli: un semestre, oppure il percorso completo.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99" y="1640776"/>
            <a:ext cx="955038" cy="3936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7A4F5E"/>
                </a:solidFill>
                <a:latin typeface="Playfair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3591" y="2097975"/>
            <a:ext cx="2884607" cy="709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A3532"/>
                </a:solidFill>
                <a:latin typeface="Outfit"/>
              </a:rPr>
              <a:t>Paghi con la carta, in modo sicuro: il pagamento passa da Stripe, noi non vediamo i tuoi dati.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3591" y="1640776"/>
            <a:ext cx="955038" cy="3936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7A4F5E"/>
                </a:solidFill>
                <a:latin typeface="Playfair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284" y="2097975"/>
            <a:ext cx="2942281" cy="709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A3532"/>
                </a:solidFill>
                <a:latin typeface="Outfit"/>
              </a:rPr>
              <a:t>Ricevi subito una mail con il link per attivare il tuo accesso e scegliere la password.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284" y="1640776"/>
            <a:ext cx="955038" cy="3936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7A4F5E"/>
                </a:solidFill>
                <a:latin typeface="Playfair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6977" y="2097975"/>
            <a:ext cx="2689806" cy="709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A3532"/>
                </a:solidFill>
                <a:latin typeface="Outfit"/>
              </a:rPr>
              <a:t>Sei dentro: lezioni, registrazioni, materiali e forum nella tua area riservata.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6977" y="1640776"/>
            <a:ext cx="955038" cy="3936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7A4F5E"/>
                </a:solidFill>
                <a:latin typeface="Playfair Display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899" y="6037644"/>
            <a:ext cx="1775027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25D"/>
                </a:solidFill>
                <a:latin typeface="Outfit"/>
              </a:rPr>
              <a:t>un semestre, 10 lezioni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899" y="5542346"/>
            <a:ext cx="1218403" cy="546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A3532"/>
                </a:solidFill>
                <a:latin typeface="Playfair Display"/>
              </a:rPr>
              <a:t>700 €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9029" y="6037644"/>
            <a:ext cx="2419217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25D"/>
                </a:solidFill>
                <a:latin typeface="Outfit"/>
              </a:rPr>
              <a:t>il percorso completo, 20 lezioni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9029" y="5542346"/>
            <a:ext cx="1525996" cy="546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A3532"/>
                </a:solidFill>
                <a:latin typeface="Playfair Display"/>
              </a:rPr>
              <a:t>1.200 €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9007" y="6045185"/>
            <a:ext cx="4358343" cy="2476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A4F5E"/>
                </a:solidFill>
                <a:latin typeface="Outfit"/>
              </a:rPr>
              <a:t>valentinarussobg5.com/corso-base-human-design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899" y="6407134"/>
            <a:ext cx="250285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943095"/>
            <a:ext cx="5359387" cy="3054342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984" y="1943095"/>
            <a:ext cx="5359387" cy="30543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48" y="6349984"/>
            <a:ext cx="292099" cy="2920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6899" y="425449"/>
            <a:ext cx="2646356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F5E"/>
                </a:solidFill>
                <a:latin typeface="Outfit"/>
              </a:rPr>
              <a:t>ISTRUZIONI PER L'ISCRIZIONE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47698"/>
            <a:ext cx="6340142" cy="5778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3A3532"/>
                </a:solidFill>
                <a:latin typeface="Playfair Display"/>
              </a:rPr>
              <a:t>Come funziona l'area riservata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9" y="5110051"/>
            <a:ext cx="5670837" cy="43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A3532"/>
                </a:solidFill>
                <a:latin typeface="Outfit"/>
              </a:rPr>
              <a:t>La tua classe: le lezioni in ordine, ognuna con la registrazione da rivedere e scaricare, e i materiali.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284" y="5110051"/>
            <a:ext cx="5006534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A3532"/>
                </a:solidFill>
                <a:latin typeface="Outfit"/>
              </a:rPr>
              <a:t>Il forum della classe: qui carichi gli esercizi e Valentina ti risponde.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899" y="6028715"/>
            <a:ext cx="5841525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A3532"/>
                </a:solidFill>
                <a:latin typeface="Outfit"/>
              </a:rPr>
              <a:t>Insieme all'accesso ricevi per mail un breve video con le istruzioni del portale.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99" y="6407134"/>
            <a:ext cx="256396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25D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5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8" y="6349984"/>
            <a:ext cx="292099" cy="292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82418" y="2736843"/>
            <a:ext cx="1827033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BF7F5"/>
                </a:solidFill>
                <a:latin typeface="Outfit"/>
              </a:rPr>
              <a:t>ULTIMO PASSAGGIO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7610" y="2997193"/>
            <a:ext cx="7776651" cy="10540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FBF7F5"/>
                </a:solidFill>
                <a:latin typeface="Playfair Display"/>
              </a:rPr>
              <a:t>Domande e risposte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99" y="6407134"/>
            <a:ext cx="258174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580"/>
                </a:solidFill>
                <a:latin typeface="Outfit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580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5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499"/>
            <a:ext cx="4508489" cy="571498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372" y="6349984"/>
            <a:ext cx="253999" cy="25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0463" y="2286490"/>
            <a:ext cx="2621908" cy="10540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6000" b="1" i="0">
                <a:solidFill>
                  <a:srgbClr val="FBF7F5"/>
                </a:solidFill>
                <a:latin typeface="Playfair Display"/>
              </a:rPr>
              <a:t>Grazie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7336" y="3429488"/>
            <a:ext cx="3655035" cy="419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400" b="0" i="1">
                <a:solidFill>
                  <a:srgbClr val="C9BFB8"/>
                </a:solidFill>
                <a:latin typeface="Playfair Display"/>
              </a:rPr>
              <a:t>A mete eccelse per anguste vie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8169" y="4079964"/>
            <a:ext cx="1394203" cy="2476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300" b="0" i="0">
                <a:solidFill>
                  <a:srgbClr val="FBF7F5"/>
                </a:solidFill>
                <a:latin typeface="Outfit"/>
              </a:rPr>
              <a:t>Valentina Russo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99" y="6496034"/>
            <a:ext cx="269954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580"/>
                </a:solidFill>
                <a:latin typeface="Outfit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0545" y="6388084"/>
            <a:ext cx="1477102" cy="184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580"/>
                </a:solidFill>
                <a:latin typeface="Outfit"/>
              </a:rPr>
              <a:t>valentinarussobg5.com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