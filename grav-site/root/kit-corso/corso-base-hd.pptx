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969" cy="6857982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5.png"/><Relationship Id="rId4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image" Target="../media/image14.jpg"/><Relationship Id="rId4" Type="http://schemas.openxmlformats.org/officeDocument/2006/relationships/image" Target="../media/image15.png"/><Relationship Id="rId5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image" Target="../media/image17.png"/><Relationship Id="rId4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image" Target="../media/image21.png"/><Relationship Id="rId4" Type="http://schemas.openxmlformats.org/officeDocument/2006/relationships/image" Target="../media/image2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image" Target="../media/image24.png"/><Relationship Id="rId4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5.png"/><Relationship Id="rId4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image" Target="../media/image24.png"/><Relationship Id="rId4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image" Target="../media/image28.jpg"/><Relationship Id="rId4" Type="http://schemas.openxmlformats.org/officeDocument/2006/relationships/image" Target="../media/image29.jpg"/><Relationship Id="rId5" Type="http://schemas.openxmlformats.org/officeDocument/2006/relationships/image" Target="../media/image30.png"/><Relationship Id="rId6" Type="http://schemas.openxmlformats.org/officeDocument/2006/relationships/image" Target="../media/image3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image" Target="../media/image30.png"/><Relationship Id="rId4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Relationship Id="rId3" Type="http://schemas.openxmlformats.org/officeDocument/2006/relationships/image" Target="../media/image30.png"/><Relationship Id="rId4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Relationship Id="rId3" Type="http://schemas.openxmlformats.org/officeDocument/2006/relationships/image" Target="../media/image30.png"/><Relationship Id="rId4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jpg"/><Relationship Id="rId3" Type="http://schemas.openxmlformats.org/officeDocument/2006/relationships/image" Target="../media/image41.png"/><Relationship Id="rId4" Type="http://schemas.openxmlformats.org/officeDocument/2006/relationships/image" Target="../media/image4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image" Target="../media/image44.jpg"/><Relationship Id="rId4" Type="http://schemas.openxmlformats.org/officeDocument/2006/relationships/image" Target="../media/image45.png"/><Relationship Id="rId5" Type="http://schemas.openxmlformats.org/officeDocument/2006/relationships/image" Target="../media/image4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image" Target="../media/image48.jpg"/><Relationship Id="rId4" Type="http://schemas.openxmlformats.org/officeDocument/2006/relationships/image" Target="../media/image49.png"/><Relationship Id="rId5" Type="http://schemas.openxmlformats.org/officeDocument/2006/relationships/image" Target="../media/image5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Relationship Id="rId3" Type="http://schemas.openxmlformats.org/officeDocument/2006/relationships/image" Target="../media/image52.jpg"/><Relationship Id="rId4" Type="http://schemas.openxmlformats.org/officeDocument/2006/relationships/image" Target="../media/image45.png"/><Relationship Id="rId5" Type="http://schemas.openxmlformats.org/officeDocument/2006/relationships/image" Target="../media/image4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Relationship Id="rId3" Type="http://schemas.openxmlformats.org/officeDocument/2006/relationships/image" Target="../media/image54.jpg"/><Relationship Id="rId4" Type="http://schemas.openxmlformats.org/officeDocument/2006/relationships/image" Target="../media/image45.png"/><Relationship Id="rId5" Type="http://schemas.openxmlformats.org/officeDocument/2006/relationships/image" Target="../media/image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image" Target="../media/image5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Relationship Id="rId3" Type="http://schemas.openxmlformats.org/officeDocument/2006/relationships/image" Target="../media/image4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jpg"/><Relationship Id="rId3" Type="http://schemas.openxmlformats.org/officeDocument/2006/relationships/image" Target="../media/image59.jpg"/><Relationship Id="rId4" Type="http://schemas.openxmlformats.org/officeDocument/2006/relationships/image" Target="../media/image57.png"/><Relationship Id="rId5" Type="http://schemas.openxmlformats.org/officeDocument/2006/relationships/image" Target="../media/image6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Relationship Id="rId3" Type="http://schemas.openxmlformats.org/officeDocument/2006/relationships/image" Target="../media/image6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jpg"/><Relationship Id="rId3" Type="http://schemas.openxmlformats.org/officeDocument/2006/relationships/image" Target="../media/image6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353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3481" y="571499"/>
            <a:ext cx="4508489" cy="5714986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6899" y="1797641"/>
            <a:ext cx="11010872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FBF7F5"/>
                </a:solidFill>
                <a:latin typeface="Outfit"/>
              </a:rPr>
              <a:t>LEZIONE INTRODUTTIVA DI ORIENTAMENTO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6899" y="2153240"/>
            <a:ext cx="7150082" cy="2256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8400" b="1" i="0">
                <a:solidFill>
                  <a:srgbClr val="FBF7F5"/>
                </a:solidFill>
                <a:latin typeface="Playfair Display"/>
              </a:rPr>
              <a:t>Benvenuti al corso base</a:t>
            </a:r>
          </a:p>
          <a:p>
            <a:pPr algn="l">
              <a:lnSpc>
                <a:spcPct val="104000"/>
              </a:lnSpc>
            </a:pPr>
            <a:r>
              <a:rPr sz="8400" b="1" i="0">
                <a:solidFill>
                  <a:srgbClr val="FBF7F5"/>
                </a:solidFill>
                <a:latin typeface="Playfair Display"/>
              </a:rPr>
              <a:t>di Human 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6899" y="4651363"/>
            <a:ext cx="11010872" cy="2691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50" b="0" i="0">
                <a:solidFill>
                  <a:srgbClr val="C9BFB8"/>
                </a:solidFill>
                <a:latin typeface="Outfit"/>
              </a:rPr>
              <a:t>Formatrice: Valentina Russo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6515084"/>
            <a:ext cx="167282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8E8580"/>
                </a:solidFill>
                <a:latin typeface="Outfit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0545" y="6407134"/>
            <a:ext cx="1266227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8E8580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8" y="1384297"/>
            <a:ext cx="2793993" cy="4597389"/>
          </a:xfrm>
          <a:prstGeom prst="rect">
            <a:avLst/>
          </a:prstGeom>
        </p:spPr>
      </p:pic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1590" y="2819393"/>
            <a:ext cx="5206987" cy="3092442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5348" y="6349984"/>
            <a:ext cx="292099" cy="292099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6899" y="444499"/>
            <a:ext cx="11010872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7A4F5E"/>
                </a:solidFill>
                <a:latin typeface="Outfit"/>
              </a:rPr>
              <a:t>PRIMA DI COMINCIARE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698498"/>
            <a:ext cx="11010872" cy="4850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 b="1" i="0">
                <a:solidFill>
                  <a:srgbClr val="3A3532"/>
                </a:solidFill>
                <a:latin typeface="Playfair Display"/>
              </a:rPr>
              <a:t>Il tuo Disegno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6899" y="6057885"/>
            <a:ext cx="1873841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6B625D"/>
                </a:solidFill>
                <a:latin typeface="Outfit"/>
              </a:rPr>
              <a:t>Fig. 1 — Un bodygraph completo.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8890" y="1704475"/>
            <a:ext cx="5753086" cy="5536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b="0" i="0">
                <a:solidFill>
                  <a:srgbClr val="3A3532"/>
                </a:solidFill>
                <a:latin typeface="Outfit"/>
              </a:rPr>
              <a:t>Per ottenere il massimo dalla lezione di oggi, assicurati di avere il tuo Disegno sotto mano.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98890" y="2359714"/>
            <a:ext cx="7708881" cy="295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b="0" i="0">
                <a:solidFill>
                  <a:srgbClr val="3A3532"/>
                </a:solidFill>
                <a:latin typeface="Outfit"/>
              </a:rPr>
              <a:t>Se non ce l'hai, vai su valentinarussobg5.com/calcolo-human-design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6899" y="6426184"/>
            <a:ext cx="188614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625D"/>
                </a:solidFill>
                <a:latin typeface="Outfit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0545" y="6407134"/>
            <a:ext cx="1266227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9880" y="1193797"/>
            <a:ext cx="3174992" cy="431798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348" y="6349984"/>
            <a:ext cx="292099" cy="292099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6899" y="1283590"/>
            <a:ext cx="6591284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7A4F5E"/>
                </a:solidFill>
                <a:latin typeface="Outfit"/>
              </a:rPr>
              <a:t>CHI VI ACCOMPAGNA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6899" y="1537589"/>
            <a:ext cx="6591284" cy="6247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300" b="1" i="0">
                <a:solidFill>
                  <a:srgbClr val="3A3532"/>
                </a:solidFill>
                <a:latin typeface="Playfair Display"/>
              </a:rPr>
              <a:t>Valentina Russo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2213168"/>
            <a:ext cx="6591284" cy="500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50" b="0" i="0">
                <a:solidFill>
                  <a:srgbClr val="6B625D"/>
                </a:solidFill>
                <a:latin typeface="Outfit"/>
              </a:rPr>
              <a:t>Proiettrice (Guida), Autorità Mentale, Profilo 2/4</a:t>
            </a:r>
          </a:p>
          <a:p>
            <a:pPr algn="l">
              <a:lnSpc>
                <a:spcPct val="140000"/>
              </a:lnSpc>
            </a:pPr>
            <a:r>
              <a:rPr sz="1950" b="0" i="0">
                <a:solidFill>
                  <a:srgbClr val="6B625D"/>
                </a:solidFill>
                <a:latin typeface="Outfit"/>
              </a:rPr>
              <a:t>Croce di Angolo Destro del Vascello dell'Amore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6899" y="2903927"/>
            <a:ext cx="5245087" cy="8114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b="0" i="0">
                <a:solidFill>
                  <a:srgbClr val="3A3532"/>
                </a:solidFill>
                <a:latin typeface="Outfit"/>
              </a:rPr>
              <a:t>Questo corso arriva da diversi inviti che mi sono arrivati attraverso la divulgazione dello Human Design e del BG5 sul mio canale YouTube.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6899" y="3804236"/>
            <a:ext cx="5245087" cy="5536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b="0" i="0">
                <a:solidFill>
                  <a:srgbClr val="3A3532"/>
                </a:solidFill>
                <a:latin typeface="Outfit"/>
              </a:rPr>
              <a:t>Mi sento chiamata ad essere al servizio delle persone, ma fuori dal sistema.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6899" y="4573775"/>
            <a:ext cx="5245087" cy="8608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700" b="1" i="1">
                <a:solidFill>
                  <a:srgbClr val="7A4F5E"/>
                </a:solidFill>
                <a:latin typeface="Playfair Display"/>
              </a:rPr>
              <a:t>Il mio obiettivo, con questo corso, è fornire gli strumenti base per leggere in autonomia qualsiasi tipo di Disegno, partendo dal vostro.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6899" y="6426184"/>
            <a:ext cx="188416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625D"/>
                </a:solidFill>
                <a:latin typeface="Outfit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0545" y="6407134"/>
            <a:ext cx="1266227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1698" y="6349984"/>
            <a:ext cx="292099" cy="29209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4" name="Oval 3"/>
          <p:cNvSpPr/>
          <p:nvPr/>
        </p:nvSpPr>
        <p:spPr>
          <a:xfrm>
            <a:off x="609598" y="4662575"/>
            <a:ext cx="76200" cy="76200"/>
          </a:xfrm>
          <a:prstGeom prst="ellipse">
            <a:avLst/>
          </a:prstGeom>
          <a:solidFill>
            <a:srgbClr val="FEB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6899" y="1954009"/>
            <a:ext cx="11010872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7A4F5E"/>
                </a:solidFill>
                <a:latin typeface="Outfit"/>
              </a:rPr>
              <a:t>APPROCCIO ALLA LEZIONE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6899" y="2322308"/>
            <a:ext cx="8928078" cy="20862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7200" b="1" i="1">
                <a:solidFill>
                  <a:srgbClr val="3A3532"/>
                </a:solidFill>
                <a:latin typeface="Playfair Display"/>
              </a:rPr>
              <a:t>Ascolta come se fosse la prima volta che senti queste informazioni.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6426184"/>
            <a:ext cx="195163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625D"/>
                </a:solidFill>
                <a:latin typeface="Outfit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0545" y="6407134"/>
            <a:ext cx="1266227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53380" y="1968495"/>
            <a:ext cx="3301992" cy="3301992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348" y="6349984"/>
            <a:ext cx="292099" cy="292099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6899" y="444499"/>
            <a:ext cx="11010872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7A4F5E"/>
                </a:solidFill>
                <a:latin typeface="Outfit"/>
              </a:rPr>
              <a:t>SETTE PASSAGGI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6899" y="698498"/>
            <a:ext cx="11010872" cy="4850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 b="1" i="0">
                <a:solidFill>
                  <a:srgbClr val="3A3532"/>
                </a:solidFill>
                <a:latin typeface="Playfair Display"/>
              </a:rPr>
              <a:t>Il programma di oggi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1918390"/>
            <a:ext cx="6946883" cy="5625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 i="0">
                <a:solidFill>
                  <a:srgbClr val="3A3532"/>
                </a:solidFill>
                <a:latin typeface="Outfit"/>
              </a:rPr>
              <a:t>Problema: i tempi in cui siamo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6899" y="1918390"/>
            <a:ext cx="355599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7A4F5E"/>
                </a:solidFill>
                <a:latin typeface="Outfit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6899" y="2442859"/>
            <a:ext cx="6946883" cy="5625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 i="0">
                <a:solidFill>
                  <a:srgbClr val="3A3532"/>
                </a:solidFill>
                <a:latin typeface="Outfit"/>
              </a:rPr>
              <a:t>Soluzione: perché lo Human Design può aiutarci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6899" y="2442859"/>
            <a:ext cx="355599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7A4F5E"/>
                </a:solidFill>
                <a:latin typeface="Outfit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6899" y="2967328"/>
            <a:ext cx="6946883" cy="5625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 i="0">
                <a:solidFill>
                  <a:srgbClr val="3A3532"/>
                </a:solidFill>
                <a:latin typeface="Outfit"/>
              </a:rPr>
              <a:t>Il binario e la sintesi del Disegno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6899" y="2967328"/>
            <a:ext cx="355599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7A4F5E"/>
                </a:solidFill>
                <a:latin typeface="Outfit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6899" y="3491797"/>
            <a:ext cx="6946883" cy="5625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 i="0">
                <a:solidFill>
                  <a:srgbClr val="3A3532"/>
                </a:solidFill>
                <a:latin typeface="Outfit"/>
              </a:rPr>
              <a:t>Esercizio pratico: "Il Rosso e il Nero"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6899" y="3491797"/>
            <a:ext cx="355599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7A4F5E"/>
                </a:solidFill>
                <a:latin typeface="Outfit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6899" y="4016266"/>
            <a:ext cx="6946883" cy="5625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 i="0">
                <a:solidFill>
                  <a:srgbClr val="3A3532"/>
                </a:solidFill>
                <a:latin typeface="Outfit"/>
              </a:rPr>
              <a:t>Bonus per chi prosegue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6899" y="4016266"/>
            <a:ext cx="355599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7A4F5E"/>
                </a:solidFill>
                <a:latin typeface="Outfit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6899" y="4540735"/>
            <a:ext cx="6946883" cy="5625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 i="0">
                <a:solidFill>
                  <a:srgbClr val="3A3532"/>
                </a:solidFill>
                <a:latin typeface="Outfit"/>
              </a:rPr>
              <a:t>Istruzioni per l'iscrizione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899" y="4540735"/>
            <a:ext cx="355599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7A4F5E"/>
                </a:solidFill>
                <a:latin typeface="Outfit"/>
              </a:rPr>
              <a:t>06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6899" y="5065204"/>
            <a:ext cx="6946883" cy="5625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 i="0">
                <a:solidFill>
                  <a:srgbClr val="3A3532"/>
                </a:solidFill>
                <a:latin typeface="Outfit"/>
              </a:rPr>
              <a:t>Domande e risposte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6899" y="5065204"/>
            <a:ext cx="355599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7A4F5E"/>
                </a:solidFill>
                <a:latin typeface="Outfit"/>
              </a:rPr>
              <a:t>07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13680" y="5373277"/>
            <a:ext cx="3594091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500" b="0" i="0">
                <a:solidFill>
                  <a:srgbClr val="6B625D"/>
                </a:solidFill>
                <a:latin typeface="Outfit"/>
              </a:rPr>
              <a:t>L'anello in basso a sinistra si chiude un passo alla volta.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6899" y="6426184"/>
            <a:ext cx="189011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625D"/>
                </a:solidFill>
                <a:latin typeface="Outfit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60545" y="6407134"/>
            <a:ext cx="1266227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353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1698" y="6349984"/>
            <a:ext cx="292099" cy="29209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4" name="Oval 3"/>
          <p:cNvSpPr/>
          <p:nvPr/>
        </p:nvSpPr>
        <p:spPr>
          <a:xfrm>
            <a:off x="609598" y="5213436"/>
            <a:ext cx="76200" cy="76200"/>
          </a:xfrm>
          <a:prstGeom prst="ellipse">
            <a:avLst/>
          </a:prstGeom>
          <a:solidFill>
            <a:srgbClr val="FEB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6899" y="1403148"/>
            <a:ext cx="11010872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FBF7F5"/>
                </a:solidFill>
                <a:latin typeface="Outfit"/>
              </a:rPr>
              <a:t>I TEMPI STANNO CAMBIANDO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6899" y="1771447"/>
            <a:ext cx="9563076" cy="22323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4050" b="0" i="1">
                <a:solidFill>
                  <a:srgbClr val="FBF7F5"/>
                </a:solidFill>
                <a:latin typeface="IM Fell English"/>
              </a:rPr>
              <a:t>L'attuale direzione verso la quale stiamo andando è, e sarà, uno shock. È un mondo che abbraccerà coloro che vivono e operano come loro stessi. Ciò significherà molto disordine, caos e confusione per coloro che sono persi nella dipendenza da schemi e relazioni. Tutto nella nostra specie è radicato nella dipendenza.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4245064"/>
            <a:ext cx="11010872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FBF7F5"/>
                </a:solidFill>
                <a:latin typeface="Outfit"/>
              </a:rPr>
              <a:t>RA URU HU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6899" y="4664163"/>
            <a:ext cx="7023082" cy="295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50" b="0" i="0">
                <a:solidFill>
                  <a:srgbClr val="FBF7F5"/>
                </a:solidFill>
                <a:latin typeface="Outfit"/>
              </a:rPr>
              <a:t>La dipendenza significa rinunciare a sé stessi, e alla propria Autorità.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6899" y="6426184"/>
            <a:ext cx="190996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8E8580"/>
                </a:solidFill>
                <a:latin typeface="Outfit"/>
              </a:rPr>
              <a:t>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0545" y="6407134"/>
            <a:ext cx="1266227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8E8580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8998" y="6349984"/>
            <a:ext cx="292099" cy="29209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092810" y="1437577"/>
            <a:ext cx="6350" cy="4536568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6899" y="444499"/>
            <a:ext cx="11010872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7A4F5E"/>
                </a:solidFill>
                <a:latin typeface="Outfit"/>
              </a:rPr>
              <a:t>I TEMPI STANNO CAMBIANDO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6899" y="698498"/>
            <a:ext cx="11010872" cy="4850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 b="1" i="0">
                <a:solidFill>
                  <a:srgbClr val="3A3532"/>
                </a:solidFill>
                <a:latin typeface="Playfair Display"/>
              </a:rPr>
              <a:t>Dallo schema del mondo attuale a quello futuro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1424877"/>
            <a:ext cx="5114912" cy="28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6B625D"/>
                </a:solidFill>
                <a:latin typeface="Outfit"/>
              </a:rPr>
              <a:t>OGGI · 16.1 ILLUSIONE / ALLUCINAZIONE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6899" y="1833756"/>
            <a:ext cx="5114912" cy="8114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b="0" i="0">
                <a:solidFill>
                  <a:srgbClr val="6B625D"/>
                </a:solidFill>
                <a:latin typeface="Outfit"/>
              </a:rPr>
              <a:t>Falso entusiasmo. La comunicazione si basa su pretese inevitabilmente non realizzate. Tendenza ad esprimere la fantasia come realtà.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859" y="1424877"/>
            <a:ext cx="5114912" cy="28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7A4F5E"/>
                </a:solidFill>
                <a:latin typeface="Outfit"/>
              </a:rPr>
              <a:t>DAL 2027 · 20.6 SAGGEZZA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859" y="1833756"/>
            <a:ext cx="5114912" cy="15847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b="0" i="0">
                <a:solidFill>
                  <a:srgbClr val="3A3532"/>
                </a:solidFill>
                <a:latin typeface="Outfit"/>
              </a:rPr>
              <a:t>Contemplazione nell'adesso che si traduce nella capacità di applicare la comprensione. Le istituzioni lavorano a beneficio della società, dei valori, degli ideali e dei loro modelli, e di come questi possono essere compresi e applicati. La capacità di trasformare la consapevolezza individuale in impegno e comprensione generali.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6899" y="5961444"/>
            <a:ext cx="5245087" cy="312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700" b="1" i="1">
                <a:solidFill>
                  <a:srgbClr val="7A4F5E"/>
                </a:solidFill>
                <a:latin typeface="Playfair Display"/>
              </a:rPr>
              <a:t>2027: il cambiamento.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6899" y="6426184"/>
            <a:ext cx="182364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625D"/>
                </a:solidFill>
                <a:latin typeface="Outfit"/>
              </a:rPr>
              <a:t>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0545" y="6407134"/>
            <a:ext cx="1266227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8" y="4406889"/>
            <a:ext cx="5073637" cy="2451094"/>
          </a:xfrm>
          <a:prstGeom prst="rect">
            <a:avLst/>
          </a:prstGeom>
        </p:spPr>
      </p:pic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2384" y="4406889"/>
            <a:ext cx="5079987" cy="2451094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5348" y="6349984"/>
            <a:ext cx="292099" cy="292099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09598" y="1960248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598" y="2306917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9598" y="2653587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598" y="3000256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9598" y="3346926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9598" y="3693595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598" y="4040265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05559" y="1960248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05559" y="2306917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05559" y="2653587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05559" y="3000256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05559" y="3346926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05559" y="3693595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05559" y="4040265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92810" y="1437577"/>
            <a:ext cx="6350" cy="673207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6899" y="444499"/>
            <a:ext cx="11010872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7A4F5E"/>
                </a:solidFill>
                <a:latin typeface="Outfit"/>
              </a:rPr>
              <a:t>TEMPI IN CUI SIAMO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6899" y="698498"/>
            <a:ext cx="11010872" cy="4850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 b="1" i="0">
                <a:solidFill>
                  <a:srgbClr val="3A3532"/>
                </a:solidFill>
                <a:latin typeface="Playfair Display"/>
              </a:rPr>
              <a:t>La grande transizione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6899" y="1424877"/>
            <a:ext cx="5114912" cy="28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6B625D"/>
                </a:solidFill>
                <a:latin typeface="Outfit"/>
              </a:rPr>
              <a:t>IL NOSTRO PASSATO ERA FOCALIZZATO SU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6899" y="1833756"/>
            <a:ext cx="5114912" cy="295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b="0" i="0">
                <a:solidFill>
                  <a:srgbClr val="6B625D"/>
                </a:solidFill>
                <a:latin typeface="Outfit"/>
              </a:rPr>
              <a:t>Competenze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6899" y="2180426"/>
            <a:ext cx="5114912" cy="295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b="0" i="0">
                <a:solidFill>
                  <a:srgbClr val="6B625D"/>
                </a:solidFill>
                <a:latin typeface="Outfit"/>
              </a:rPr>
              <a:t>Patti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6899" y="2527095"/>
            <a:ext cx="5114912" cy="295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b="0" i="0">
                <a:solidFill>
                  <a:srgbClr val="6B625D"/>
                </a:solidFill>
                <a:latin typeface="Outfit"/>
              </a:rPr>
              <a:t>Istituzioni e comunità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6899" y="2873765"/>
            <a:ext cx="5114912" cy="295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b="0" i="0">
                <a:solidFill>
                  <a:srgbClr val="6B625D"/>
                </a:solidFill>
                <a:latin typeface="Outfit"/>
              </a:rPr>
              <a:t>Concentrazione focalizzata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6899" y="3220434"/>
            <a:ext cx="5114912" cy="295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b="0" i="0">
                <a:solidFill>
                  <a:srgbClr val="6B625D"/>
                </a:solidFill>
                <a:latin typeface="Outfit"/>
              </a:rPr>
              <a:t>Sistemi di potere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899" y="3567104"/>
            <a:ext cx="5114912" cy="295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b="0" i="0">
                <a:solidFill>
                  <a:srgbClr val="6B625D"/>
                </a:solidFill>
                <a:latin typeface="Outfit"/>
              </a:rPr>
              <a:t>Autorità fidate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6899" y="3913773"/>
            <a:ext cx="5114912" cy="295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b="0" i="0">
                <a:solidFill>
                  <a:srgbClr val="6B625D"/>
                </a:solidFill>
                <a:latin typeface="Outfit"/>
              </a:rPr>
              <a:t>Solitudine e lavoro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859" y="1424877"/>
            <a:ext cx="5114912" cy="28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7A4F5E"/>
                </a:solidFill>
                <a:latin typeface="Outfit"/>
              </a:rPr>
              <a:t>IL NOSTRO FUTURO SARÀ FOCALIZZATO SU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859" y="1833756"/>
            <a:ext cx="5114912" cy="295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b="0" i="0">
                <a:solidFill>
                  <a:srgbClr val="3A3532"/>
                </a:solidFill>
                <a:latin typeface="Outfit"/>
              </a:rPr>
              <a:t>Individuo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859" y="2180426"/>
            <a:ext cx="5114912" cy="295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b="0" i="0">
                <a:solidFill>
                  <a:srgbClr val="3A3532"/>
                </a:solidFill>
                <a:latin typeface="Outfit"/>
              </a:rPr>
              <a:t>Auto-potenziamento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92859" y="2527095"/>
            <a:ext cx="5114912" cy="295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b="0" i="0">
                <a:solidFill>
                  <a:srgbClr val="3A3532"/>
                </a:solidFill>
                <a:latin typeface="Outfit"/>
              </a:rPr>
              <a:t>Contemplazione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2859" y="2873765"/>
            <a:ext cx="5114912" cy="295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b="0" i="0">
                <a:solidFill>
                  <a:srgbClr val="3A3532"/>
                </a:solidFill>
                <a:latin typeface="Outfit"/>
              </a:rPr>
              <a:t>Abbondanza di spirito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859" y="3220434"/>
            <a:ext cx="5114912" cy="295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b="0" i="0">
                <a:solidFill>
                  <a:srgbClr val="3A3532"/>
                </a:solidFill>
                <a:latin typeface="Outfit"/>
              </a:rPr>
              <a:t>I nostri talenti e doni unici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859" y="3567104"/>
            <a:ext cx="5114912" cy="295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b="0" i="0">
                <a:solidFill>
                  <a:srgbClr val="3A3532"/>
                </a:solidFill>
                <a:latin typeface="Outfit"/>
              </a:rPr>
              <a:t>Fidarci di noi stessi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92859" y="3913773"/>
            <a:ext cx="5114912" cy="295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b="0" i="0">
                <a:solidFill>
                  <a:srgbClr val="3A3532"/>
                </a:solidFill>
                <a:latin typeface="Outfit"/>
              </a:rPr>
              <a:t>Abbattere le barriere per legare con gli altri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6899" y="6426184"/>
            <a:ext cx="189408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625D"/>
                </a:solidFill>
                <a:latin typeface="Outfit"/>
              </a:rPr>
              <a:t>08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60545" y="6407134"/>
            <a:ext cx="1266227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1698" y="6349984"/>
            <a:ext cx="292099" cy="29209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09598" y="1551369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98" y="2206608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9598" y="2861847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63763" y="2204028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763" y="2550697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763" y="2897367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63763" y="4061795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763" y="4408465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851014" y="1437577"/>
            <a:ext cx="6350" cy="4810808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6899" y="444499"/>
            <a:ext cx="11010872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7A4F5E"/>
                </a:solidFill>
                <a:latin typeface="Outfit"/>
              </a:rPr>
              <a:t>SOLUZIONE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6899" y="698498"/>
            <a:ext cx="11010872" cy="4850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 b="1" i="0">
                <a:solidFill>
                  <a:srgbClr val="3A3532"/>
                </a:solidFill>
                <a:latin typeface="Playfair Display"/>
              </a:rPr>
              <a:t>Unire la visione dello Human Design a quella del BG5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6899" y="1424877"/>
            <a:ext cx="4873117" cy="5536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b="0" i="0">
                <a:solidFill>
                  <a:srgbClr val="3A3532"/>
                </a:solidFill>
                <a:latin typeface="Outfit"/>
              </a:rPr>
              <a:t>Lo Human Design si occupa della trasformazione personale.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6899" y="2080116"/>
            <a:ext cx="4873117" cy="5536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b="0" i="0">
                <a:solidFill>
                  <a:srgbClr val="3A3532"/>
                </a:solidFill>
                <a:latin typeface="Outfit"/>
              </a:rPr>
              <a:t>Il BG5 (Business Group 5) è l'applicazione pratica dello Human Design nella vita e nel business.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6899" y="2735355"/>
            <a:ext cx="4873117" cy="5536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b="0" i="0">
                <a:solidFill>
                  <a:srgbClr val="3A3532"/>
                </a:solidFill>
                <a:latin typeface="Outfit"/>
              </a:rPr>
              <a:t>Il mio approccio nasce dall'unione di queste due visioni dello stesso intero.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1063" y="1424877"/>
            <a:ext cx="5356708" cy="525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6B625D"/>
                </a:solidFill>
                <a:latin typeface="Outfit"/>
              </a:rPr>
              <a:t>CON QUESTO CORSO INTENDO FORNIRE GLI STRUMENTI PER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51063" y="2077536"/>
            <a:ext cx="5356708" cy="295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b="0" i="0">
                <a:solidFill>
                  <a:srgbClr val="3A3532"/>
                </a:solidFill>
                <a:latin typeface="Outfit"/>
              </a:rPr>
              <a:t>Leggere e interpretare il Disegno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51063" y="2424206"/>
            <a:ext cx="5356708" cy="295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b="0" i="0">
                <a:solidFill>
                  <a:srgbClr val="3A3532"/>
                </a:solidFill>
                <a:latin typeface="Outfit"/>
              </a:rPr>
              <a:t>Comprendere le aree sensibili nelle connessioni relazionali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51063" y="2770875"/>
            <a:ext cx="5356708" cy="295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b="0" i="0">
                <a:solidFill>
                  <a:srgbClr val="3A3532"/>
                </a:solidFill>
                <a:latin typeface="Outfit"/>
              </a:rPr>
              <a:t>Conoscere il potenziale individuale nell'ambito business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51063" y="3282644"/>
            <a:ext cx="5356708" cy="525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6B625D"/>
                </a:solidFill>
                <a:latin typeface="Outfit"/>
              </a:rPr>
              <a:t>UNA VOLTA PADRONEGGIATA LA LETTURA BASE, APPROFONDIREMO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51063" y="3935303"/>
            <a:ext cx="5356708" cy="295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b="0" i="0">
                <a:solidFill>
                  <a:srgbClr val="3A3532"/>
                </a:solidFill>
                <a:latin typeface="Outfit"/>
              </a:rPr>
              <a:t>Il Disegno composito di due persone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51063" y="4281973"/>
            <a:ext cx="5356708" cy="295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b="0" i="0">
                <a:solidFill>
                  <a:srgbClr val="3A3532"/>
                </a:solidFill>
                <a:latin typeface="Outfit"/>
              </a:rPr>
              <a:t>Il Disegno di un Penta, un gruppo di 3-5 persone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6899" y="6426184"/>
            <a:ext cx="190996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625D"/>
                </a:solidFill>
                <a:latin typeface="Outfit"/>
              </a:rPr>
              <a:t>09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60545" y="6407134"/>
            <a:ext cx="1266227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7382" y="1409696"/>
            <a:ext cx="4444989" cy="4838688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298" y="6349984"/>
            <a:ext cx="292099" cy="292099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6899" y="444499"/>
            <a:ext cx="11010872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7A4F5E"/>
                </a:solidFill>
                <a:latin typeface="Outfit"/>
              </a:rPr>
              <a:t>SOLUZIONE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6899" y="698498"/>
            <a:ext cx="11010872" cy="4850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 b="1" i="0">
                <a:solidFill>
                  <a:srgbClr val="3A3532"/>
                </a:solidFill>
                <a:latin typeface="Playfair Display"/>
              </a:rPr>
              <a:t>I vantaggi del condizionamento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2492468"/>
            <a:ext cx="5499086" cy="5536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b="0" i="0">
                <a:solidFill>
                  <a:srgbClr val="3A3532"/>
                </a:solidFill>
                <a:latin typeface="Outfit"/>
              </a:rPr>
              <a:t>Per auto-realizzarci relazionalmente e materialmente abbiamo bisogno di connetterci con gli altri.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6899" y="3173107"/>
            <a:ext cx="5499086" cy="8114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b="0" i="0">
                <a:solidFill>
                  <a:srgbClr val="3A3532"/>
                </a:solidFill>
                <a:latin typeface="Outfit"/>
              </a:rPr>
              <a:t>Quando sei allineato con ciò che è corretto per te, entri in relazione proprio con chi sei fatto per connetterti. In questo modo ci si può influenzare reciprocamente in modo costruttivo.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6899" y="4111516"/>
            <a:ext cx="5499086" cy="10691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b="0" i="0">
                <a:solidFill>
                  <a:srgbClr val="3A3532"/>
                </a:solidFill>
                <a:latin typeface="Outfit"/>
              </a:rPr>
              <a:t>Conoscere sé stessi significa poter ottimizzare la propria energia, porre i confini sani che servono a ciascuno di noi e raggiungere il benessere e la prosperità che sostengano la soddisfazione, il successo, la pace o la sorpresa personale.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6899" y="6426184"/>
            <a:ext cx="167282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625D"/>
                </a:solidFill>
                <a:latin typeface="Outfit"/>
              </a:rPr>
              <a:t>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0545" y="6407134"/>
            <a:ext cx="1266227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7382" y="1409696"/>
            <a:ext cx="4444989" cy="4838688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198" y="6349984"/>
            <a:ext cx="292099" cy="292099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6899" y="444499"/>
            <a:ext cx="11010872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7A4F5E"/>
                </a:solidFill>
                <a:latin typeface="Outfit"/>
              </a:rPr>
              <a:t>PER SFRUTTARE AL MEGLIO QUESTO CORSO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6899" y="698498"/>
            <a:ext cx="11010872" cy="4850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 b="1" i="0">
                <a:solidFill>
                  <a:srgbClr val="3A3532"/>
                </a:solidFill>
                <a:latin typeface="Playfair Display"/>
              </a:rPr>
              <a:t>Occorre praticare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2710848"/>
            <a:ext cx="5499086" cy="13269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b="0" i="0">
                <a:solidFill>
                  <a:srgbClr val="3A3532"/>
                </a:solidFill>
                <a:latin typeface="Outfit"/>
              </a:rPr>
              <a:t>Non esiste una scorciatoia per diventare bravi in questa materia. Le AI possono fornire informazioni sommarie e spesso scorrette, quindi l'unica opzione è imparare "alla vecchia maniera": applicando ciò che si apprende nella vita quotidiana, facendo gli esercizi settimanali e discutendo in classe delle proprie osservazioni.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6899" y="4253696"/>
            <a:ext cx="5245087" cy="7086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300" b="1" i="1">
                <a:solidFill>
                  <a:srgbClr val="7A4F5E"/>
                </a:solidFill>
                <a:latin typeface="Playfair Display"/>
              </a:rPr>
              <a:t>Non serve essere perfetti. Serve essere onesti con sé stessi.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6899" y="6426184"/>
            <a:ext cx="133052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625D"/>
                </a:solidFill>
                <a:latin typeface="Outfit"/>
              </a:rPr>
              <a:t>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0545" y="6407134"/>
            <a:ext cx="1266227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8" y="1409696"/>
            <a:ext cx="3047992" cy="414654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598" y="6349984"/>
            <a:ext cx="292099" cy="292099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165590" y="2675415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65590" y="3060184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65590" y="3444954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65590" y="3829723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65590" y="4214492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6899" y="444499"/>
            <a:ext cx="11010872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7A4F5E"/>
                </a:solidFill>
                <a:latin typeface="Outfit"/>
              </a:rPr>
              <a:t>IL BINARIO E LA SINTESI DEL DISEGNO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6899" y="698498"/>
            <a:ext cx="11010872" cy="4850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 b="1" i="0">
                <a:solidFill>
                  <a:srgbClr val="3A3532"/>
                </a:solidFill>
                <a:latin typeface="Playfair Display"/>
              </a:rPr>
              <a:t>Cosa noti della tua mappa?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6899" y="5670536"/>
            <a:ext cx="711992" cy="15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25" b="1" i="0">
                <a:solidFill>
                  <a:srgbClr val="6B625D"/>
                </a:solidFill>
                <a:latin typeface="Outfit"/>
              </a:rPr>
              <a:t>Disegno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86690" y="5670536"/>
            <a:ext cx="889792" cy="15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25" b="1" i="0">
                <a:solidFill>
                  <a:srgbClr val="6B625D"/>
                </a:solidFill>
                <a:latin typeface="Outfit"/>
              </a:rPr>
              <a:t>Personalità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54281" y="5670536"/>
            <a:ext cx="789283" cy="15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25" b="1" i="0">
                <a:solidFill>
                  <a:srgbClr val="6B625D"/>
                </a:solidFill>
                <a:latin typeface="Outfit"/>
              </a:rPr>
              <a:t>Indefinito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6899" y="5880085"/>
            <a:ext cx="3086092" cy="393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6B625D"/>
                </a:solidFill>
                <a:latin typeface="Outfit"/>
              </a:rPr>
              <a:t>Fig. 2 — La carta di Valentina Russo, 21 giugno 1988, Saluzzo.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2890" y="2548923"/>
            <a:ext cx="4102090" cy="295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b="0" i="0">
                <a:solidFill>
                  <a:srgbClr val="3A3532"/>
                </a:solidFill>
                <a:latin typeface="Outfit"/>
              </a:rPr>
              <a:t>Il Disegno racconta la tua storia unica.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52890" y="2933693"/>
            <a:ext cx="4102090" cy="295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b="0" i="0">
                <a:solidFill>
                  <a:srgbClr val="3A3532"/>
                </a:solidFill>
                <a:latin typeface="Outfit"/>
              </a:rPr>
              <a:t>Ci dice cosa c'è di conscio e di inconscio.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52890" y="3318462"/>
            <a:ext cx="4102090" cy="295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b="0" i="0">
                <a:solidFill>
                  <a:srgbClr val="3A3532"/>
                </a:solidFill>
                <a:latin typeface="Outfit"/>
              </a:rPr>
              <a:t>Mostra quale energia è coerente e affidabile.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2890" y="3703231"/>
            <a:ext cx="4102090" cy="295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b="0" i="0">
                <a:solidFill>
                  <a:srgbClr val="3A3532"/>
                </a:solidFill>
                <a:latin typeface="Outfit"/>
              </a:rPr>
              <a:t>Indica dove sei vulnerabile al condizionamento.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52890" y="4088001"/>
            <a:ext cx="4102090" cy="5536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b="0" i="0">
                <a:solidFill>
                  <a:srgbClr val="3A3532"/>
                </a:solidFill>
                <a:latin typeface="Outfit"/>
              </a:rPr>
              <a:t>Ci dice se il Disegno è tutto collegato, e come assimili le informazioni.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52890" y="4794040"/>
            <a:ext cx="2837848" cy="330199"/>
          </a:xfrm>
          <a:prstGeom prst="rect">
            <a:avLst/>
          </a:prstGeom>
          <a:noFill/>
          <a:ln w="19050">
            <a:solidFill>
              <a:srgbClr val="0999B3"/>
            </a:solidFill>
            <a:prstDash val="dash"/>
          </a:ln>
        </p:spPr>
        <p:txBody>
          <a:bodyPr wrap="square" lIns="114300" rIns="114300" tIns="50800" bIns="508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76B7D"/>
                </a:solidFill>
                <a:latin typeface="Outfit"/>
              </a:rPr>
              <a:t>Rosso e nero insieme: il quantum di sintesi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6899" y="6426184"/>
            <a:ext cx="154285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625D"/>
                </a:solidFill>
                <a:latin typeface="Outfit"/>
              </a:rPr>
              <a:t>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60545" y="6407134"/>
            <a:ext cx="1266227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8" y="1384297"/>
            <a:ext cx="2793993" cy="459738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598" y="6349984"/>
            <a:ext cx="292099" cy="292099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6899" y="444499"/>
            <a:ext cx="11010872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7A4F5E"/>
                </a:solidFill>
                <a:latin typeface="Outfit"/>
              </a:rPr>
              <a:t>IL BINARIO E LA SINTESI DEL DISEGNO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6899" y="698498"/>
            <a:ext cx="11010872" cy="4850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 b="1" i="0">
                <a:solidFill>
                  <a:srgbClr val="3A3532"/>
                </a:solidFill>
                <a:latin typeface="Playfair Display"/>
              </a:rPr>
              <a:t>Cosa guardare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6057885"/>
            <a:ext cx="2705887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6B625D"/>
                </a:solidFill>
                <a:latin typeface="Outfit"/>
              </a:rPr>
              <a:t>Fig. 3 — Centri, canali e porte sulla stessa carta.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98890" y="1931784"/>
            <a:ext cx="1244597" cy="469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5100" b="1" i="0">
                <a:solidFill>
                  <a:srgbClr val="7A4F5E"/>
                </a:solidFill>
                <a:latin typeface="Playfair Display"/>
              </a:rP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70487" y="2147684"/>
            <a:ext cx="6337284" cy="4596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0" i="0">
                <a:solidFill>
                  <a:srgbClr val="3A3532"/>
                </a:solidFill>
                <a:latin typeface="Outfit"/>
              </a:rPr>
              <a:t>centrile funzioni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98890" y="2708963"/>
            <a:ext cx="1244597" cy="469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5100" b="1" i="0">
                <a:solidFill>
                  <a:srgbClr val="7A4F5E"/>
                </a:solidFill>
                <a:latin typeface="Playfair Display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0487" y="2924862"/>
            <a:ext cx="6337284" cy="4596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0" i="0">
                <a:solidFill>
                  <a:srgbClr val="3A3532"/>
                </a:solidFill>
                <a:latin typeface="Outfit"/>
              </a:rPr>
              <a:t>Tipologiein BG5: Iniziatore, Costruttore, Guida, Valutatore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98890" y="3486141"/>
            <a:ext cx="1244597" cy="469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5100" b="1" i="0">
                <a:solidFill>
                  <a:srgbClr val="7A4F5E"/>
                </a:solidFill>
                <a:latin typeface="Playfair Display"/>
              </a:rPr>
              <a:t>36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70487" y="3702041"/>
            <a:ext cx="6337284" cy="4596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0" i="0">
                <a:solidFill>
                  <a:srgbClr val="3A3532"/>
                </a:solidFill>
                <a:latin typeface="Outfit"/>
              </a:rPr>
              <a:t>canalii punti di forza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98890" y="4263320"/>
            <a:ext cx="1244597" cy="469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5100" b="1" i="0">
                <a:solidFill>
                  <a:srgbClr val="7A4F5E"/>
                </a:solidFill>
                <a:latin typeface="Playfair Display"/>
              </a:rPr>
              <a:t>64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70487" y="4479219"/>
            <a:ext cx="6337284" cy="4596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0" i="0">
                <a:solidFill>
                  <a:srgbClr val="3A3532"/>
                </a:solidFill>
                <a:latin typeface="Outfit"/>
              </a:rPr>
              <a:t>portei tratti caratteriali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98890" y="5040498"/>
            <a:ext cx="1244597" cy="469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5100" b="1" i="0">
                <a:solidFill>
                  <a:srgbClr val="7A4F5E"/>
                </a:solidFill>
                <a:latin typeface="Playfair Display"/>
              </a:rPr>
              <a:t>384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70487" y="5256398"/>
            <a:ext cx="6337284" cy="4596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0" i="0">
                <a:solidFill>
                  <a:srgbClr val="3A3532"/>
                </a:solidFill>
                <a:latin typeface="Outfit"/>
              </a:rPr>
              <a:t>variazioni di lineele qualità in cui si può esprimere un tratto caratteriale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899" y="6426184"/>
            <a:ext cx="154186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625D"/>
                </a:solidFill>
                <a:latin typeface="Outfit"/>
              </a:rPr>
              <a:t>13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60545" y="6407134"/>
            <a:ext cx="1266227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9948" y="6349984"/>
            <a:ext cx="292099" cy="29209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09598" y="1960248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98" y="2357717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9598" y="2755187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598" y="3152656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05559" y="1960248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05559" y="2357717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05559" y="2755187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05559" y="3152656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2810" y="1437577"/>
            <a:ext cx="6350" cy="4810808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6899" y="444499"/>
            <a:ext cx="11010872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7A4F5E"/>
                </a:solidFill>
                <a:latin typeface="Outfit"/>
              </a:rPr>
              <a:t>IL BINARIO E LA SINTESI DEL DISEGNO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6899" y="698498"/>
            <a:ext cx="11010872" cy="4850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 b="1" i="0">
                <a:solidFill>
                  <a:srgbClr val="3A3532"/>
                </a:solidFill>
                <a:latin typeface="Playfair Display"/>
              </a:rPr>
              <a:t>Sistema binario e quantum di sintesi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6899" y="1424877"/>
            <a:ext cx="5114912" cy="28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6B625D"/>
                </a:solidFill>
                <a:latin typeface="Outfit"/>
              </a:rPr>
              <a:t>SISTEMA BINARIO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6899" y="1833756"/>
            <a:ext cx="5114912" cy="295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b="0" i="0">
                <a:solidFill>
                  <a:srgbClr val="6B625D"/>
                </a:solidFill>
                <a:latin typeface="Outfit"/>
              </a:rPr>
              <a:t>Il sistema è fatto delle parti individuali.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6899" y="2231226"/>
            <a:ext cx="5114912" cy="295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b="0" i="0">
                <a:solidFill>
                  <a:srgbClr val="6B625D"/>
                </a:solidFill>
                <a:latin typeface="Outfit"/>
              </a:rPr>
              <a:t>Sono i dettagli sottostanti.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899" y="2628695"/>
            <a:ext cx="5114912" cy="295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b="0" i="0">
                <a:solidFill>
                  <a:srgbClr val="6B625D"/>
                </a:solidFill>
                <a:latin typeface="Outfit"/>
              </a:rPr>
              <a:t>Rappresenta gli opposti.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6899" y="3026164"/>
            <a:ext cx="5114912" cy="295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b="0" i="0">
                <a:solidFill>
                  <a:srgbClr val="6B625D"/>
                </a:solidFill>
                <a:latin typeface="Outfit"/>
              </a:rPr>
              <a:t>È come funziona la mente.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859" y="1424877"/>
            <a:ext cx="5114912" cy="28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7A4F5E"/>
                </a:solidFill>
                <a:latin typeface="Outfit"/>
              </a:rPr>
              <a:t>QUANTUM DI SINTESI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859" y="1833756"/>
            <a:ext cx="5114912" cy="295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b="0" i="0">
                <a:solidFill>
                  <a:srgbClr val="3A3532"/>
                </a:solidFill>
                <a:latin typeface="Outfit"/>
              </a:rPr>
              <a:t>Il quantum di sintesi è il Tutto.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859" y="2231226"/>
            <a:ext cx="5114912" cy="295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b="0" i="0">
                <a:solidFill>
                  <a:srgbClr val="3A3532"/>
                </a:solidFill>
                <a:latin typeface="Outfit"/>
              </a:rPr>
              <a:t>Il Tutto è maggiore della somma delle singole parti.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859" y="2628695"/>
            <a:ext cx="5114912" cy="295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b="0" i="0">
                <a:solidFill>
                  <a:srgbClr val="3A3532"/>
                </a:solidFill>
                <a:latin typeface="Outfit"/>
              </a:rPr>
              <a:t>Continuità genetica.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859" y="3026164"/>
            <a:ext cx="5114912" cy="295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b="0" i="0">
                <a:solidFill>
                  <a:srgbClr val="3A3532"/>
                </a:solidFill>
                <a:latin typeface="Outfit"/>
              </a:rPr>
              <a:t>È come funziona il corpo.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6899" y="6426184"/>
            <a:ext cx="160932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625D"/>
                </a:solidFill>
                <a:latin typeface="Outfit"/>
              </a:rPr>
              <a:t>14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60545" y="6407134"/>
            <a:ext cx="1266227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8" y="1924045"/>
            <a:ext cx="3809990" cy="380999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598" y="6349984"/>
            <a:ext cx="292099" cy="292099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6899" y="444499"/>
            <a:ext cx="11010872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7A4F5E"/>
                </a:solidFill>
                <a:latin typeface="Outfit"/>
              </a:rPr>
              <a:t>IL BINARIO E LA SINTESI DEL DISEGNO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6899" y="698498"/>
            <a:ext cx="11010872" cy="4850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 b="1" i="0">
                <a:solidFill>
                  <a:srgbClr val="3A3532"/>
                </a:solidFill>
                <a:latin typeface="Playfair Display"/>
              </a:rPr>
              <a:t>La sintesi crea qualcosa di unico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14888" y="2933097"/>
            <a:ext cx="6692883" cy="525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6B625D"/>
                </a:solidFill>
                <a:latin typeface="Outfit"/>
              </a:rPr>
              <a:t>ESISTONO DIVERSI STRATI DI SINTESI, DI CUI TRE SONO QUELLI BASE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4888" y="3598457"/>
            <a:ext cx="6692883" cy="295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b="0" i="0">
                <a:solidFill>
                  <a:srgbClr val="3A3532"/>
                </a:solidFill>
                <a:latin typeface="Outfit"/>
              </a:rPr>
              <a:t>Sintesi della Genetica e della Personalità: ciò che nel Disegno è rosso e nero.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14888" y="3598457"/>
            <a:ext cx="355599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7A4F5E"/>
                </a:solidFill>
                <a:latin typeface="Outfit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14888" y="4021326"/>
            <a:ext cx="6692883" cy="295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b="0" i="0">
                <a:solidFill>
                  <a:srgbClr val="3A3532"/>
                </a:solidFill>
                <a:latin typeface="Outfit"/>
              </a:rPr>
              <a:t>Sintesi di due Porte che definiscono un Canale.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14888" y="4021326"/>
            <a:ext cx="355599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7A4F5E"/>
                </a:solidFill>
                <a:latin typeface="Outfit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14888" y="4444195"/>
            <a:ext cx="6692883" cy="295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b="0" i="0">
                <a:solidFill>
                  <a:srgbClr val="3A3532"/>
                </a:solidFill>
                <a:latin typeface="Outfit"/>
              </a:rPr>
              <a:t>Sintesi tra Natura e Nutrimento: ciò che è definito e ciò che non lo è.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14888" y="4444195"/>
            <a:ext cx="355599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7A4F5E"/>
                </a:solidFill>
                <a:latin typeface="Outfit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6899" y="6426184"/>
            <a:ext cx="154781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625D"/>
                </a:solidFill>
                <a:latin typeface="Outfit"/>
              </a:rPr>
              <a:t>15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0545" y="6407134"/>
            <a:ext cx="1266227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8" y="1346197"/>
            <a:ext cx="3232142" cy="4635488"/>
          </a:xfrm>
          <a:prstGeom prst="rect">
            <a:avLst/>
          </a:prstGeom>
        </p:spPr>
      </p:pic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6739" y="1346197"/>
            <a:ext cx="3232142" cy="4635488"/>
          </a:xfrm>
          <a:prstGeom prst="rect">
            <a:avLst/>
          </a:prstGeom>
        </p:spPr>
      </p:pic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43879" y="1346197"/>
            <a:ext cx="3238492" cy="4635488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598" y="6349984"/>
            <a:ext cx="292099" cy="292099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6899" y="444499"/>
            <a:ext cx="11010872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7A4F5E"/>
                </a:solidFill>
                <a:latin typeface="Outfit"/>
              </a:rPr>
              <a:t>PRIMO STRATO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6899" y="698498"/>
            <a:ext cx="11010872" cy="4850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 b="1" i="0">
                <a:solidFill>
                  <a:srgbClr val="3A3532"/>
                </a:solidFill>
                <a:latin typeface="Playfair Display"/>
              </a:rPr>
              <a:t>Sintesi genetica: il rosso e il nero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14931" y="6057885"/>
            <a:ext cx="2036261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500" b="0" i="0">
                <a:solidFill>
                  <a:srgbClr val="6B625D"/>
                </a:solidFill>
                <a:latin typeface="Outfit"/>
              </a:rPr>
              <a:t>13 porte · Mappa genetica inconscia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08439" y="6057885"/>
            <a:ext cx="2387693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500" b="0" i="0">
                <a:solidFill>
                  <a:srgbClr val="6B625D"/>
                </a:solidFill>
                <a:latin typeface="Outfit"/>
              </a:rPr>
              <a:t>13 porte · Mappa della personalità conscia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9939" y="6057885"/>
            <a:ext cx="1823239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500" b="0" i="0">
                <a:solidFill>
                  <a:srgbClr val="6B625D"/>
                </a:solidFill>
                <a:latin typeface="Outfit"/>
              </a:rPr>
              <a:t>26 porte · Canali e centri definiti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6899" y="6426184"/>
            <a:ext cx="156666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625D"/>
                </a:solidFill>
                <a:latin typeface="Outfit"/>
              </a:rPr>
              <a:t>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0545" y="6407134"/>
            <a:ext cx="1266227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8" y="1384297"/>
            <a:ext cx="3301992" cy="459738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248" y="6349984"/>
            <a:ext cx="292099" cy="292099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6899" y="444499"/>
            <a:ext cx="11010872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7A4F5E"/>
                </a:solidFill>
                <a:latin typeface="Outfit"/>
              </a:rPr>
              <a:t>SECONDO STRATO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6899" y="698498"/>
            <a:ext cx="11010872" cy="4850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 b="1" i="0">
                <a:solidFill>
                  <a:srgbClr val="3A3532"/>
                </a:solidFill>
                <a:latin typeface="Playfair Display"/>
              </a:rPr>
              <a:t>Sintesi di un canale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6057885"/>
            <a:ext cx="2112660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6B625D"/>
                </a:solidFill>
                <a:latin typeface="Outfit"/>
              </a:rPr>
              <a:t>Fig. 4 — Il canale 64-47, Testa e Ajna.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06889" y="2974372"/>
            <a:ext cx="5245087" cy="12164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400" b="0" i="0">
                <a:solidFill>
                  <a:srgbClr val="3A3532"/>
                </a:solidFill>
                <a:latin typeface="Outfit"/>
              </a:rPr>
              <a:t>Quando due porte definite si incontrano, creano un canale. Quel canale determina un punto di forza, definito da un circuito di energia coerente, che a sua volta definisce due centri.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06889" y="4343191"/>
            <a:ext cx="3921810" cy="330199"/>
          </a:xfrm>
          <a:prstGeom prst="rect">
            <a:avLst/>
          </a:prstGeom>
          <a:noFill/>
          <a:ln w="19050">
            <a:solidFill>
              <a:srgbClr val="0999B3"/>
            </a:solidFill>
            <a:prstDash val="dash"/>
          </a:ln>
        </p:spPr>
        <p:txBody>
          <a:bodyPr wrap="square" lIns="114300" rIns="114300" tIns="50800" bIns="508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76B7D"/>
                </a:solidFill>
                <a:latin typeface="Outfit"/>
              </a:rPr>
              <a:t>Le porte 64 e 47 chiudono il circuito: Testa e Ajna si colorano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6899" y="6426184"/>
            <a:ext cx="152102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625D"/>
                </a:solidFill>
                <a:latin typeface="Outfit"/>
              </a:rPr>
              <a:t>17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0545" y="6407134"/>
            <a:ext cx="1266227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8" y="1409696"/>
            <a:ext cx="2571744" cy="402589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9941" y="1409696"/>
            <a:ext cx="2571744" cy="402589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0284" y="1409696"/>
            <a:ext cx="2571744" cy="402589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10627" y="1409696"/>
            <a:ext cx="2571744" cy="402589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3598" y="6349984"/>
            <a:ext cx="292099" cy="292099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96899" y="444499"/>
            <a:ext cx="11010872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7A4F5E"/>
                </a:solidFill>
                <a:latin typeface="Outfit"/>
              </a:rPr>
              <a:t>SECONDO STRATO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6899" y="698498"/>
            <a:ext cx="11010872" cy="4850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 b="1" i="0">
                <a:solidFill>
                  <a:srgbClr val="3A3532"/>
                </a:solidFill>
                <a:latin typeface="Playfair Display"/>
              </a:rPr>
              <a:t>Varianti di canale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69215" y="5527066"/>
            <a:ext cx="1065111" cy="4292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650" b="0" i="0">
                <a:solidFill>
                  <a:srgbClr val="3A3532"/>
                </a:solidFill>
                <a:latin typeface="Outfit"/>
              </a:rPr>
              <a:t>Metà conscio</a:t>
            </a:r>
          </a:p>
          <a:p>
            <a:pPr algn="ctr">
              <a:lnSpc>
                <a:spcPct val="140000"/>
              </a:lnSpc>
            </a:pPr>
            <a:r>
              <a:rPr sz="1650" b="0" i="0">
                <a:solidFill>
                  <a:srgbClr val="3A3532"/>
                </a:solidFill>
                <a:latin typeface="Outfit"/>
              </a:rPr>
              <a:t>e metà inconscio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11392" y="5527066"/>
            <a:ext cx="1581543" cy="4292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650" b="0" i="0">
                <a:solidFill>
                  <a:srgbClr val="3A3532"/>
                </a:solidFill>
                <a:latin typeface="Outfit"/>
              </a:rPr>
              <a:t>Conscio e metà inconscio</a:t>
            </a:r>
          </a:p>
          <a:p>
            <a:pPr algn="ctr">
              <a:lnSpc>
                <a:spcPct val="140000"/>
              </a:lnSpc>
            </a:pPr>
            <a:r>
              <a:rPr sz="1650" b="0" i="0">
                <a:solidFill>
                  <a:srgbClr val="3A3532"/>
                </a:solidFill>
                <a:latin typeface="Outfit"/>
              </a:rPr>
              <a:t>(o viceversa)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0139" y="5527066"/>
            <a:ext cx="744734" cy="4292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650" b="0" i="0">
                <a:solidFill>
                  <a:srgbClr val="3A3532"/>
                </a:solidFill>
                <a:latin typeface="Outfit"/>
              </a:rPr>
              <a:t>Totalmente</a:t>
            </a:r>
          </a:p>
          <a:p>
            <a:pPr algn="ctr">
              <a:lnSpc>
                <a:spcPct val="140000"/>
              </a:lnSpc>
            </a:pPr>
            <a:r>
              <a:rPr sz="1650" b="0" i="0">
                <a:solidFill>
                  <a:srgbClr val="3A3532"/>
                </a:solidFill>
                <a:latin typeface="Outfit"/>
              </a:rPr>
              <a:t>inconscio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30482" y="5527066"/>
            <a:ext cx="744734" cy="4292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650" b="0" i="0">
                <a:solidFill>
                  <a:srgbClr val="3A3532"/>
                </a:solidFill>
                <a:latin typeface="Outfit"/>
              </a:rPr>
              <a:t>Totalmente</a:t>
            </a:r>
          </a:p>
          <a:p>
            <a:pPr algn="ctr">
              <a:lnSpc>
                <a:spcPct val="140000"/>
              </a:lnSpc>
            </a:pPr>
            <a:r>
              <a:rPr sz="1650" b="0" i="0">
                <a:solidFill>
                  <a:srgbClr val="3A3532"/>
                </a:solidFill>
                <a:latin typeface="Outfit"/>
              </a:rPr>
              <a:t>conscio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6899" y="6057885"/>
            <a:ext cx="11010872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6B625D"/>
                </a:solidFill>
                <a:latin typeface="Outfit"/>
              </a:rPr>
              <a:t>Fig. 5 — Lo stesso canale 64-47 nelle quattro combinazioni possibili.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6899" y="6426184"/>
            <a:ext cx="155079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625D"/>
                </a:solidFill>
                <a:latin typeface="Outfit"/>
              </a:rPr>
              <a:t>18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60545" y="6407134"/>
            <a:ext cx="1266227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2488" y="1371597"/>
            <a:ext cx="2666993" cy="4876788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598" y="6349984"/>
            <a:ext cx="292099" cy="292099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09598" y="3303964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9598" y="3688734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598" y="4073503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9598" y="4458272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85081" y="3175079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85081" y="3559849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85081" y="3944618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85081" y="4587157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6899" y="444499"/>
            <a:ext cx="11010872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7A4F5E"/>
                </a:solidFill>
                <a:latin typeface="Outfit"/>
              </a:rPr>
              <a:t>TERZO STRATO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6899" y="698498"/>
            <a:ext cx="11010872" cy="4850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 b="1" i="0">
                <a:solidFill>
                  <a:srgbClr val="3A3532"/>
                </a:solidFill>
                <a:latin typeface="Playfair Display"/>
              </a:rPr>
              <a:t>Sintesi tra natura e nutrimento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6899" y="2524813"/>
            <a:ext cx="3835390" cy="525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6B625D"/>
                </a:solidFill>
                <a:latin typeface="Outfit"/>
              </a:rPr>
              <a:t>CENTRO DEFINITO</a:t>
            </a:r>
          </a:p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6B625D"/>
                </a:solidFill>
                <a:latin typeface="Outfit"/>
              </a:rPr>
              <a:t>FUNZIONE COLORATA → NATURA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6899" y="3177473"/>
            <a:ext cx="3835390" cy="295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b="0" i="0">
                <a:solidFill>
                  <a:srgbClr val="3A3532"/>
                </a:solidFill>
                <a:latin typeface="Outfit"/>
              </a:rPr>
              <a:t>Quello che dai agli altri.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6899" y="3562242"/>
            <a:ext cx="3835390" cy="295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b="0" i="0">
                <a:solidFill>
                  <a:srgbClr val="3A3532"/>
                </a:solidFill>
                <a:latin typeface="Outfit"/>
              </a:rPr>
              <a:t>Ciò che trasmetti: sei un trasmettitore.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899" y="3947011"/>
            <a:ext cx="3835390" cy="295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b="0" i="0">
                <a:solidFill>
                  <a:srgbClr val="3A3532"/>
                </a:solidFill>
                <a:latin typeface="Outfit"/>
              </a:rPr>
              <a:t>Una forma affidabile e coerente di energia.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6899" y="4331781"/>
            <a:ext cx="3835390" cy="295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b="0" i="0">
                <a:solidFill>
                  <a:srgbClr val="3A3532"/>
                </a:solidFill>
                <a:latin typeface="Outfit"/>
              </a:rPr>
              <a:t>Fissa.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6899" y="4780050"/>
            <a:ext cx="1368124" cy="330199"/>
          </a:xfrm>
          <a:prstGeom prst="rect">
            <a:avLst/>
          </a:prstGeom>
          <a:noFill/>
          <a:ln w="19050">
            <a:solidFill>
              <a:srgbClr val="0999B3"/>
            </a:solidFill>
            <a:prstDash val="dash"/>
          </a:ln>
        </p:spPr>
        <p:txBody>
          <a:bodyPr wrap="square" lIns="114300" rIns="114300" tIns="50800" bIns="508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76B7D"/>
                </a:solidFill>
                <a:latin typeface="Outfit"/>
              </a:rPr>
              <a:t>Qui: Testa e Ajna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381" y="2395928"/>
            <a:ext cx="3835390" cy="525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6B625D"/>
                </a:solidFill>
                <a:latin typeface="Outfit"/>
              </a:rPr>
              <a:t>CENTRO NON DEFINITO</a:t>
            </a:r>
          </a:p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6B625D"/>
                </a:solidFill>
                <a:latin typeface="Outfit"/>
              </a:rPr>
              <a:t>FUNZIONE BIANCA → NUTRIMENTO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381" y="3048588"/>
            <a:ext cx="3835390" cy="295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b="0" i="0">
                <a:solidFill>
                  <a:srgbClr val="3A3532"/>
                </a:solidFill>
                <a:latin typeface="Outfit"/>
              </a:rPr>
              <a:t>Ciò che raccogli dagli altri.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381" y="3433357"/>
            <a:ext cx="3835390" cy="295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b="0" i="0">
                <a:solidFill>
                  <a:srgbClr val="3A3532"/>
                </a:solidFill>
                <a:latin typeface="Outfit"/>
              </a:rPr>
              <a:t>Ciò che ricevi e amplifichi: sei un recettore.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381" y="3818126"/>
            <a:ext cx="3835390" cy="5536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b="0" i="0">
                <a:solidFill>
                  <a:srgbClr val="3A3532"/>
                </a:solidFill>
                <a:latin typeface="Outfit"/>
              </a:rPr>
              <a:t>Una forma incoerente e inaffidabile di energia.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381" y="4460665"/>
            <a:ext cx="3835390" cy="295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b="0" i="0">
                <a:solidFill>
                  <a:srgbClr val="3A3532"/>
                </a:solidFill>
                <a:latin typeface="Outfit"/>
              </a:rPr>
              <a:t>Flessibile.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381" y="4908935"/>
            <a:ext cx="2057593" cy="330199"/>
          </a:xfrm>
          <a:prstGeom prst="rect">
            <a:avLst/>
          </a:prstGeom>
          <a:noFill/>
          <a:ln w="19050">
            <a:solidFill>
              <a:srgbClr val="0999B3"/>
            </a:solidFill>
            <a:prstDash val="dash"/>
          </a:ln>
        </p:spPr>
        <p:txBody>
          <a:bodyPr wrap="square" lIns="114300" rIns="114300" tIns="50800" bIns="508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76B7D"/>
                </a:solidFill>
                <a:latin typeface="Outfit"/>
              </a:rPr>
              <a:t>Qui: tutti gli altri sette centri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6899" y="6426184"/>
            <a:ext cx="156666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625D"/>
                </a:solidFill>
                <a:latin typeface="Outfit"/>
              </a:rPr>
              <a:t>19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60545" y="6407134"/>
            <a:ext cx="1266227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8" y="1409696"/>
            <a:ext cx="4825988" cy="4838688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348" y="6349984"/>
            <a:ext cx="292099" cy="292099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6899" y="444499"/>
            <a:ext cx="11010872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7A4F5E"/>
                </a:solidFill>
                <a:latin typeface="Outfit"/>
              </a:rPr>
              <a:t>TERZO STRATO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6899" y="698498"/>
            <a:ext cx="11010872" cy="4850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 b="1" i="0">
                <a:solidFill>
                  <a:srgbClr val="3A3532"/>
                </a:solidFill>
                <a:latin typeface="Playfair Display"/>
              </a:rPr>
              <a:t>Siamo fatti per connetterci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30885" y="3178762"/>
            <a:ext cx="4864088" cy="6425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 i="0">
                <a:solidFill>
                  <a:srgbClr val="3A3532"/>
                </a:solidFill>
                <a:latin typeface="Outfit"/>
              </a:rPr>
              <a:t>Il BG5 (Business Group 5) approfondisce proprio come siamo fatti per collegarci agli altri.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30885" y="4037201"/>
            <a:ext cx="2065233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6B625D"/>
                </a:solidFill>
                <a:latin typeface="Outfit"/>
              </a:rPr>
              <a:t>Natura: ciò che è definito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30885" y="4303900"/>
            <a:ext cx="2657071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6B625D"/>
                </a:solidFill>
                <a:latin typeface="Outfit"/>
              </a:rPr>
              <a:t>Nutrimento: ciò che non è definito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6899" y="6426184"/>
            <a:ext cx="188614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625D"/>
                </a:solidFill>
                <a:latin typeface="Outfit"/>
              </a:rPr>
              <a:t>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0545" y="6407134"/>
            <a:ext cx="1266227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5378" y="1384297"/>
            <a:ext cx="2666993" cy="459738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598" y="6349984"/>
            <a:ext cx="292099" cy="292099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6899" y="444499"/>
            <a:ext cx="312191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7A4F5E"/>
                </a:solidFill>
                <a:latin typeface="Outfit"/>
              </a:rPr>
              <a:t>IL ROSSO E IL NERO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6899" y="698498"/>
            <a:ext cx="3121910" cy="4850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 b="1" i="0">
                <a:solidFill>
                  <a:srgbClr val="3A3532"/>
                </a:solidFill>
                <a:latin typeface="Playfair Display"/>
              </a:rPr>
              <a:t>Esercizio pratico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81135" y="444499"/>
            <a:ext cx="2826636" cy="266699"/>
          </a:xfrm>
          <a:prstGeom prst="rect">
            <a:avLst/>
          </a:prstGeom>
          <a:solidFill>
            <a:srgbClr val="76BEB3"/>
          </a:solidFill>
        </p:spPr>
        <p:txBody>
          <a:bodyPr wrap="square" lIns="76200" rIns="76200" tIns="38100" bIns="381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C3A36"/>
                </a:solidFill>
                <a:latin typeface="Outfit"/>
              </a:rPr>
              <a:t>SCADENZA: ENTRO LA PROSSIMA LEZIONE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6899" y="2437203"/>
            <a:ext cx="6134085" cy="5536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b="0" i="0">
                <a:solidFill>
                  <a:srgbClr val="3A3532"/>
                </a:solidFill>
                <a:latin typeface="Outfit"/>
              </a:rPr>
              <a:t>Stampa quattro copie della risorsa del corso, la trovi nella tua area riservata, e colora i quattro grafici in questa maniera: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6899" y="3130542"/>
            <a:ext cx="7835880" cy="295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b="0" i="0">
                <a:solidFill>
                  <a:srgbClr val="3A3532"/>
                </a:solidFill>
                <a:latin typeface="Outfit"/>
              </a:rPr>
              <a:t>Quantum di sintesi del tuo Disegno: rosso e nero.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6899" y="3130542"/>
            <a:ext cx="355599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7A4F5E"/>
                </a:solidFill>
                <a:latin typeface="Outfit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6899" y="3489912"/>
            <a:ext cx="7835880" cy="295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b="0" i="0">
                <a:solidFill>
                  <a:srgbClr val="3A3532"/>
                </a:solidFill>
                <a:latin typeface="Outfit"/>
              </a:rPr>
              <a:t>Solo ciò che nel tuo Disegno è rosso.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6899" y="3489912"/>
            <a:ext cx="355599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7A4F5E"/>
                </a:solidFill>
                <a:latin typeface="Outfit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6899" y="3849281"/>
            <a:ext cx="7835880" cy="295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b="0" i="0">
                <a:solidFill>
                  <a:srgbClr val="3A3532"/>
                </a:solidFill>
                <a:latin typeface="Outfit"/>
              </a:rPr>
              <a:t>Solo ciò che nel tuo Disegno è nero.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6899" y="3849281"/>
            <a:ext cx="355599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7A4F5E"/>
                </a:solidFill>
                <a:latin typeface="Outfit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6899" y="4208650"/>
            <a:ext cx="7835880" cy="295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b="0" i="0">
                <a:solidFill>
                  <a:srgbClr val="3A3532"/>
                </a:solidFill>
                <a:latin typeface="Outfit"/>
              </a:rPr>
              <a:t>Solo ciò che nel tuo Disegno è bianco, come a creare un negativo fotografico.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6899" y="4208650"/>
            <a:ext cx="355599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7A4F5E"/>
                </a:solidFill>
                <a:latin typeface="Outfit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6899" y="4656920"/>
            <a:ext cx="6134085" cy="5536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b="0" i="0">
                <a:solidFill>
                  <a:srgbClr val="3A3532"/>
                </a:solidFill>
                <a:latin typeface="Outfit"/>
              </a:rPr>
              <a:t>Carica le foto o le scansioni dei quattro grafici nel forum e commenta con le sensazioni che hai provato svolgendo l'esercizio.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02678" y="6057885"/>
            <a:ext cx="1843480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6B625D"/>
                </a:solidFill>
                <a:latin typeface="Outfit"/>
              </a:rPr>
              <a:t>Fig. 6 — La risorsa da stampare.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6899" y="6426184"/>
            <a:ext cx="154285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625D"/>
                </a:solidFill>
                <a:latin typeface="Outfit"/>
              </a:rPr>
              <a:t>21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60545" y="6407134"/>
            <a:ext cx="1266227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1375" y="800098"/>
            <a:ext cx="1650996" cy="253999"/>
          </a:xfrm>
          <a:prstGeom prst="rect">
            <a:avLst/>
          </a:prstGeom>
        </p:spPr>
      </p:pic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61378" y="1371597"/>
            <a:ext cx="2920993" cy="4610088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2648" y="6349984"/>
            <a:ext cx="292099" cy="292099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6899" y="444499"/>
            <a:ext cx="3172313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7A4F5E"/>
                </a:solidFill>
                <a:latin typeface="Outfit"/>
              </a:rPr>
              <a:t>ESERCIZIO PRATICO · IL ROSSO E IL NERO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673098"/>
            <a:ext cx="1713305" cy="4850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 b="1" i="0">
                <a:solidFill>
                  <a:srgbClr val="3A3532"/>
                </a:solidFill>
                <a:latin typeface="Playfair Display"/>
              </a:rPr>
              <a:t>Esercizio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37203" y="692148"/>
            <a:ext cx="193774" cy="444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 i="0">
                <a:solidFill>
                  <a:srgbClr val="7A4F5E"/>
                </a:solidFill>
                <a:latin typeface="Playfair Display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597" y="444499"/>
            <a:ext cx="2098174" cy="266699"/>
          </a:xfrm>
          <a:prstGeom prst="rect">
            <a:avLst/>
          </a:prstGeom>
          <a:solidFill>
            <a:srgbClr val="76BEB3"/>
          </a:solidFill>
        </p:spPr>
        <p:txBody>
          <a:bodyPr wrap="square" lIns="76200" rIns="76200" tIns="38100" bIns="381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50" b="1" i="0">
                <a:solidFill>
                  <a:srgbClr val="1C3A36"/>
                </a:solidFill>
                <a:latin typeface="Outfit"/>
              </a:rPr>
              <a:t>ENTRO LA PROSSIMA LEZIONE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6899" y="2384518"/>
            <a:ext cx="4102090" cy="5536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b="0" i="0">
                <a:solidFill>
                  <a:srgbClr val="3A3532"/>
                </a:solidFill>
                <a:latin typeface="Outfit"/>
              </a:rPr>
              <a:t>Prendi una penna nera, una rossa e una del colore che vuoi.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6899" y="2384518"/>
            <a:ext cx="355599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7A4F5E"/>
                </a:solidFill>
                <a:latin typeface="Outfit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6899" y="3027057"/>
            <a:ext cx="4102090" cy="5536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b="0" i="0">
                <a:solidFill>
                  <a:srgbClr val="3A3532"/>
                </a:solidFill>
                <a:latin typeface="Outfit"/>
              </a:rPr>
              <a:t>Guarda le porte del tuo Disegno, sia rosse che nere, e colorale.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6899" y="3027057"/>
            <a:ext cx="355599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7A4F5E"/>
                </a:solidFill>
                <a:latin typeface="Outfit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6899" y="3669596"/>
            <a:ext cx="4102090" cy="295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b="0" i="0">
                <a:solidFill>
                  <a:srgbClr val="3A3532"/>
                </a:solidFill>
                <a:latin typeface="Outfit"/>
              </a:rPr>
              <a:t>Unisci i canali.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6899" y="3669596"/>
            <a:ext cx="355599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7A4F5E"/>
                </a:solidFill>
                <a:latin typeface="Outfit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6899" y="4054366"/>
            <a:ext cx="4102090" cy="5536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b="0" i="0">
                <a:solidFill>
                  <a:srgbClr val="3A3532"/>
                </a:solidFill>
                <a:latin typeface="Outfit"/>
              </a:rPr>
              <a:t>Colora col terzo colore i centri che si definiscono attraverso i canali.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6899" y="4054366"/>
            <a:ext cx="355599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7A4F5E"/>
                </a:solidFill>
                <a:latin typeface="Outfit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899" y="4696905"/>
            <a:ext cx="4102090" cy="5536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b="0" i="0">
                <a:solidFill>
                  <a:srgbClr val="3A3532"/>
                </a:solidFill>
                <a:latin typeface="Outfit"/>
              </a:rPr>
              <a:t>Verifica che il Disegno combaci con quello di qualsiasi calcolatore.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6899" y="4696905"/>
            <a:ext cx="355599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7A4F5E"/>
                </a:solidFill>
                <a:latin typeface="Outfit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48678" y="6057885"/>
            <a:ext cx="2745872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6B625D"/>
                </a:solidFill>
                <a:latin typeface="Outfit"/>
              </a:rPr>
              <a:t>Il risultato atteso: rosso e nero sullo stesso foglio.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6899" y="6426184"/>
            <a:ext cx="175518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625D"/>
                </a:solidFill>
                <a:latin typeface="Outfit"/>
              </a:rPr>
              <a:t>22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60545" y="6407134"/>
            <a:ext cx="1266227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1375" y="800098"/>
            <a:ext cx="1650996" cy="253999"/>
          </a:xfrm>
          <a:prstGeom prst="rect">
            <a:avLst/>
          </a:prstGeom>
        </p:spPr>
      </p:pic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61378" y="1371597"/>
            <a:ext cx="2920993" cy="4610088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2648" y="6349984"/>
            <a:ext cx="292099" cy="292099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6899" y="444499"/>
            <a:ext cx="3172313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7A4F5E"/>
                </a:solidFill>
                <a:latin typeface="Outfit"/>
              </a:rPr>
              <a:t>ESERCIZIO PRATICO · IL ROSSO E IL NERO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673098"/>
            <a:ext cx="1713305" cy="4850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 b="1" i="0">
                <a:solidFill>
                  <a:srgbClr val="3A3532"/>
                </a:solidFill>
                <a:latin typeface="Playfair Display"/>
              </a:rPr>
              <a:t>Esercizio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37203" y="692148"/>
            <a:ext cx="250725" cy="444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 i="0">
                <a:solidFill>
                  <a:srgbClr val="7A4F5E"/>
                </a:solidFill>
                <a:latin typeface="Playfair Display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597" y="444499"/>
            <a:ext cx="2098174" cy="266699"/>
          </a:xfrm>
          <a:prstGeom prst="rect">
            <a:avLst/>
          </a:prstGeom>
          <a:solidFill>
            <a:srgbClr val="76BEB3"/>
          </a:solidFill>
        </p:spPr>
        <p:txBody>
          <a:bodyPr wrap="square" lIns="76200" rIns="76200" tIns="38100" bIns="381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50" b="1" i="0">
                <a:solidFill>
                  <a:srgbClr val="1C3A36"/>
                </a:solidFill>
                <a:latin typeface="Outfit"/>
              </a:rPr>
              <a:t>ENTRO LA PROSSIMA LEZIONE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6899" y="2372414"/>
            <a:ext cx="4102090" cy="295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b="0" i="0">
                <a:solidFill>
                  <a:srgbClr val="3A3532"/>
                </a:solidFill>
                <a:latin typeface="Outfit"/>
              </a:rPr>
              <a:t>Prendi una penna rossa.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6899" y="2372414"/>
            <a:ext cx="355599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7A4F5E"/>
                </a:solidFill>
                <a:latin typeface="Outfit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6899" y="2757183"/>
            <a:ext cx="4102090" cy="5536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b="0" i="0">
                <a:solidFill>
                  <a:srgbClr val="3A3532"/>
                </a:solidFill>
                <a:latin typeface="Outfit"/>
              </a:rPr>
              <a:t>Guarda le porte rosse del tuo Disegno e colorale.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6899" y="2757183"/>
            <a:ext cx="355599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7A4F5E"/>
                </a:solidFill>
                <a:latin typeface="Outfit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6899" y="3399722"/>
            <a:ext cx="4102090" cy="295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b="0" i="0">
                <a:solidFill>
                  <a:srgbClr val="3A3532"/>
                </a:solidFill>
                <a:latin typeface="Outfit"/>
              </a:rPr>
              <a:t>Unisci gli eventuali canali.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6899" y="3399722"/>
            <a:ext cx="355599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7A4F5E"/>
                </a:solidFill>
                <a:latin typeface="Outfit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6899" y="3784491"/>
            <a:ext cx="4102090" cy="5536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b="0" i="0">
                <a:solidFill>
                  <a:srgbClr val="3A3532"/>
                </a:solidFill>
                <a:latin typeface="Outfit"/>
              </a:rPr>
              <a:t>Colora gli eventuali centri che si definiscono attraverso i canali.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6899" y="3784491"/>
            <a:ext cx="355599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7A4F5E"/>
                </a:solidFill>
                <a:latin typeface="Outfit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899" y="4554030"/>
            <a:ext cx="5245087" cy="7086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300" b="1" i="1">
                <a:solidFill>
                  <a:srgbClr val="7A4F5E"/>
                </a:solidFill>
                <a:latin typeface="Playfair Display"/>
              </a:rPr>
              <a:t>Questa è la mappa genetica del tuo inconscio.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48678" y="6057885"/>
            <a:ext cx="1705566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6B625D"/>
                </a:solidFill>
                <a:latin typeface="Outfit"/>
              </a:rPr>
              <a:t>Il risultato atteso: solo il rosso.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6899" y="6426184"/>
            <a:ext cx="175418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625D"/>
                </a:solidFill>
                <a:latin typeface="Outfit"/>
              </a:rPr>
              <a:t>23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60545" y="6407134"/>
            <a:ext cx="1266227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1375" y="800098"/>
            <a:ext cx="1650996" cy="253999"/>
          </a:xfrm>
          <a:prstGeom prst="rect">
            <a:avLst/>
          </a:prstGeom>
        </p:spPr>
      </p:pic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61378" y="1371597"/>
            <a:ext cx="2920993" cy="4610088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8998" y="6349984"/>
            <a:ext cx="292099" cy="292099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6899" y="444499"/>
            <a:ext cx="3172313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7A4F5E"/>
                </a:solidFill>
                <a:latin typeface="Outfit"/>
              </a:rPr>
              <a:t>ESERCIZIO PRATICO · IL ROSSO E IL NERO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673098"/>
            <a:ext cx="1713305" cy="4850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 b="1" i="0">
                <a:solidFill>
                  <a:srgbClr val="3A3532"/>
                </a:solidFill>
                <a:latin typeface="Playfair Display"/>
              </a:rPr>
              <a:t>Esercizio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37203" y="692148"/>
            <a:ext cx="236438" cy="444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 i="0">
                <a:solidFill>
                  <a:srgbClr val="7A4F5E"/>
                </a:solidFill>
                <a:latin typeface="Playfair Display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597" y="444499"/>
            <a:ext cx="2098174" cy="266699"/>
          </a:xfrm>
          <a:prstGeom prst="rect">
            <a:avLst/>
          </a:prstGeom>
          <a:solidFill>
            <a:srgbClr val="76BEB3"/>
          </a:solidFill>
        </p:spPr>
        <p:txBody>
          <a:bodyPr wrap="square" lIns="76200" rIns="76200" tIns="38100" bIns="381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50" b="1" i="0">
                <a:solidFill>
                  <a:srgbClr val="1C3A36"/>
                </a:solidFill>
                <a:latin typeface="Outfit"/>
              </a:rPr>
              <a:t>ENTRO LA PROSSIMA LEZIONE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6899" y="2372414"/>
            <a:ext cx="4102090" cy="295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b="0" i="0">
                <a:solidFill>
                  <a:srgbClr val="3A3532"/>
                </a:solidFill>
                <a:latin typeface="Outfit"/>
              </a:rPr>
              <a:t>Prendi una penna nera.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6899" y="2372414"/>
            <a:ext cx="355599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7A4F5E"/>
                </a:solidFill>
                <a:latin typeface="Outfit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6899" y="2757183"/>
            <a:ext cx="4102090" cy="5536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b="0" i="0">
                <a:solidFill>
                  <a:srgbClr val="3A3532"/>
                </a:solidFill>
                <a:latin typeface="Outfit"/>
              </a:rPr>
              <a:t>Guarda le porte nere del tuo Disegno e colorale.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6899" y="2757183"/>
            <a:ext cx="355599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7A4F5E"/>
                </a:solidFill>
                <a:latin typeface="Outfit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6899" y="3399722"/>
            <a:ext cx="4102090" cy="295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b="0" i="0">
                <a:solidFill>
                  <a:srgbClr val="3A3532"/>
                </a:solidFill>
                <a:latin typeface="Outfit"/>
              </a:rPr>
              <a:t>Unisci gli eventuali canali.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6899" y="3399722"/>
            <a:ext cx="355599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7A4F5E"/>
                </a:solidFill>
                <a:latin typeface="Outfit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6899" y="3784491"/>
            <a:ext cx="4102090" cy="5536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b="0" i="0">
                <a:solidFill>
                  <a:srgbClr val="3A3532"/>
                </a:solidFill>
                <a:latin typeface="Outfit"/>
              </a:rPr>
              <a:t>Colora gli eventuali centri che si definiscono attraverso i canali.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6899" y="3784491"/>
            <a:ext cx="355599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7A4F5E"/>
                </a:solidFill>
                <a:latin typeface="Outfit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899" y="4554030"/>
            <a:ext cx="5245087" cy="7086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300" b="1" i="1">
                <a:solidFill>
                  <a:srgbClr val="7A4F5E"/>
                </a:solidFill>
                <a:latin typeface="Playfair Display"/>
              </a:rPr>
              <a:t>Questa è la mappa della tua personalità conscia.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48678" y="6057885"/>
            <a:ext cx="1662604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6B625D"/>
                </a:solidFill>
                <a:latin typeface="Outfit"/>
              </a:rPr>
              <a:t>Il risultato atteso: solo il nero.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6899" y="6426184"/>
            <a:ext cx="182165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625D"/>
                </a:solidFill>
                <a:latin typeface="Outfit"/>
              </a:rPr>
              <a:t>24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60545" y="6407134"/>
            <a:ext cx="1266227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1375" y="800098"/>
            <a:ext cx="1650996" cy="253999"/>
          </a:xfrm>
          <a:prstGeom prst="rect">
            <a:avLst/>
          </a:prstGeom>
        </p:spPr>
      </p:pic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61378" y="1371597"/>
            <a:ext cx="2920993" cy="4610088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2648" y="6349984"/>
            <a:ext cx="292099" cy="292099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6899" y="444499"/>
            <a:ext cx="3172313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7A4F5E"/>
                </a:solidFill>
                <a:latin typeface="Outfit"/>
              </a:rPr>
              <a:t>ESERCIZIO PRATICO · IL ROSSO E IL NERO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673098"/>
            <a:ext cx="1713305" cy="4850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 b="1" i="0">
                <a:solidFill>
                  <a:srgbClr val="3A3532"/>
                </a:solidFill>
                <a:latin typeface="Playfair Display"/>
              </a:rPr>
              <a:t>Esercizio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37203" y="692148"/>
            <a:ext cx="252710" cy="444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 i="0">
                <a:solidFill>
                  <a:srgbClr val="7A4F5E"/>
                </a:solidFill>
                <a:latin typeface="Playfair Display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597" y="444499"/>
            <a:ext cx="2098174" cy="266699"/>
          </a:xfrm>
          <a:prstGeom prst="rect">
            <a:avLst/>
          </a:prstGeom>
          <a:solidFill>
            <a:srgbClr val="76BEB3"/>
          </a:solidFill>
        </p:spPr>
        <p:txBody>
          <a:bodyPr wrap="square" lIns="76200" rIns="76200" tIns="38100" bIns="381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50" b="1" i="0">
                <a:solidFill>
                  <a:srgbClr val="1C3A36"/>
                </a:solidFill>
                <a:latin typeface="Outfit"/>
              </a:rPr>
              <a:t>ENTRO LA PROSSIMA LEZIONE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6899" y="2372414"/>
            <a:ext cx="4102090" cy="295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b="0" i="0">
                <a:solidFill>
                  <a:srgbClr val="3A3532"/>
                </a:solidFill>
                <a:latin typeface="Outfit"/>
              </a:rPr>
              <a:t>Prendi una penna del colore che vuoi.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6899" y="2372414"/>
            <a:ext cx="355599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7A4F5E"/>
                </a:solidFill>
                <a:latin typeface="Outfit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6899" y="2757183"/>
            <a:ext cx="4102090" cy="5536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b="0" i="0">
                <a:solidFill>
                  <a:srgbClr val="3A3532"/>
                </a:solidFill>
                <a:latin typeface="Outfit"/>
              </a:rPr>
              <a:t>Guarda le porte che nel tuo Disegno non sono definite e colorale.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6899" y="2757183"/>
            <a:ext cx="355599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7A4F5E"/>
                </a:solidFill>
                <a:latin typeface="Outfit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6899" y="3399722"/>
            <a:ext cx="4102090" cy="295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b="0" i="0">
                <a:solidFill>
                  <a:srgbClr val="3A3532"/>
                </a:solidFill>
                <a:latin typeface="Outfit"/>
              </a:rPr>
              <a:t>Unisci gli eventuali canali.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6899" y="3399722"/>
            <a:ext cx="355599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7A4F5E"/>
                </a:solidFill>
                <a:latin typeface="Outfit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6899" y="3784491"/>
            <a:ext cx="4102090" cy="5536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b="0" i="0">
                <a:solidFill>
                  <a:srgbClr val="3A3532"/>
                </a:solidFill>
                <a:latin typeface="Outfit"/>
              </a:rPr>
              <a:t>Colora gli eventuali centri che si definiscono attraverso i canali.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6899" y="3784491"/>
            <a:ext cx="355599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7A4F5E"/>
                </a:solidFill>
                <a:latin typeface="Outfit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899" y="4554030"/>
            <a:ext cx="5245087" cy="7086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300" b="1" i="1">
                <a:solidFill>
                  <a:srgbClr val="7A4F5E"/>
                </a:solidFill>
                <a:latin typeface="Playfair Display"/>
              </a:rPr>
              <a:t>Questo è ciò che non è la tua natura, ed è dove vieni condizionato dagli altri.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48678" y="6057885"/>
            <a:ext cx="2394639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6B625D"/>
                </a:solidFill>
                <a:latin typeface="Outfit"/>
              </a:rPr>
              <a:t>Il punto di partenza: tutto ciò che è bianco.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6899" y="6426184"/>
            <a:ext cx="176014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625D"/>
                </a:solidFill>
                <a:latin typeface="Outfit"/>
              </a:rPr>
              <a:t>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60545" y="6407134"/>
            <a:ext cx="1266227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A4F5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8998" y="6349984"/>
            <a:ext cx="292099" cy="29209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4" name="Oval 3"/>
          <p:cNvSpPr/>
          <p:nvPr/>
        </p:nvSpPr>
        <p:spPr>
          <a:xfrm>
            <a:off x="609598" y="4538651"/>
            <a:ext cx="76200" cy="76200"/>
          </a:xfrm>
          <a:prstGeom prst="ellipse">
            <a:avLst/>
          </a:prstGeom>
          <a:solidFill>
            <a:srgbClr val="FEB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6899" y="2078032"/>
            <a:ext cx="11010872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FEBD59"/>
                </a:solidFill>
                <a:latin typeface="Outfit"/>
              </a:rPr>
              <a:t>BONUS PER CHI HA PARTECIPATO A QUESTA LEZIONE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6899" y="2433631"/>
            <a:ext cx="9563076" cy="1330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7200" b="1" i="0">
                <a:solidFill>
                  <a:srgbClr val="FBF7F5"/>
                </a:solidFill>
                <a:latin typeface="Playfair Display"/>
              </a:rPr>
              <a:t>Una Prima Lettura base</a:t>
            </a:r>
          </a:p>
          <a:p>
            <a:pPr algn="l">
              <a:lnSpc>
                <a:spcPct val="106000"/>
              </a:lnSpc>
            </a:pPr>
            <a:r>
              <a:rPr sz="7200" b="1" i="0">
                <a:solidFill>
                  <a:srgbClr val="FBF7F5"/>
                </a:solidFill>
                <a:latin typeface="Playfair Display"/>
              </a:rPr>
              <a:t>del valore di 210 €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3979853"/>
            <a:ext cx="11010872" cy="3047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250" b="0" i="0">
                <a:solidFill>
                  <a:srgbClr val="E9D7DC"/>
                </a:solidFill>
                <a:latin typeface="Outfit"/>
              </a:rPr>
              <a:t>Da utilizzare per sé stessi, o da regalare a qualcuno.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6899" y="6426184"/>
            <a:ext cx="177899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D9C4CB"/>
                </a:solidFill>
                <a:latin typeface="Outfit"/>
              </a:rP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0545" y="6407134"/>
            <a:ext cx="1266227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D9C4CB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298" y="6349984"/>
            <a:ext cx="292099" cy="29209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09598" y="1513777"/>
            <a:ext cx="2552694" cy="19050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16291" y="1513777"/>
            <a:ext cx="2552694" cy="19050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22984" y="1513777"/>
            <a:ext cx="2552694" cy="19050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029677" y="1513777"/>
            <a:ext cx="2552694" cy="19050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6899" y="444499"/>
            <a:ext cx="11010872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7A4F5E"/>
                </a:solidFill>
                <a:latin typeface="Outfit"/>
              </a:rPr>
              <a:t>ISTRUZIONI PER L'ISCRIZIONE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6899" y="698498"/>
            <a:ext cx="11010872" cy="4850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 b="1" i="0">
                <a:solidFill>
                  <a:srgbClr val="3A3532"/>
                </a:solidFill>
                <a:latin typeface="Playfair Display"/>
              </a:rPr>
              <a:t>Come iscriversi e pagare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6899" y="1501077"/>
            <a:ext cx="2590794" cy="1321888"/>
          </a:xfrm>
          <a:prstGeom prst="rect">
            <a:avLst/>
          </a:prstGeom>
          <a:noFill/>
          <a:ln w="19050">
            <a:solidFill>
              <a:srgbClr val="C48A3A"/>
            </a:solidFill>
          </a:ln>
        </p:spPr>
        <p:txBody>
          <a:bodyPr wrap="square" lIns="114300" rIns="114300" tIns="50800" bIns="5080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50" b="0" i="0">
                <a:solidFill>
                  <a:srgbClr val="3A3532"/>
                </a:solidFill>
                <a:latin typeface="Outfit"/>
              </a:rPr>
              <a:t>Vai sulla pagina del corso e scegli: un semestre, oppure il percorso completo.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6899" y="1501077"/>
            <a:ext cx="355599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7A4F5E"/>
                </a:solidFill>
                <a:latin typeface="Outfit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03591" y="1501077"/>
            <a:ext cx="2590794" cy="1321888"/>
          </a:xfrm>
          <a:prstGeom prst="rect">
            <a:avLst/>
          </a:prstGeom>
          <a:noFill/>
          <a:ln w="19050">
            <a:solidFill>
              <a:srgbClr val="C48A3A"/>
            </a:solidFill>
          </a:ln>
        </p:spPr>
        <p:txBody>
          <a:bodyPr wrap="square" lIns="114300" rIns="114300" tIns="50800" bIns="5080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50" b="0" i="0">
                <a:solidFill>
                  <a:srgbClr val="3A3532"/>
                </a:solidFill>
                <a:latin typeface="Outfit"/>
              </a:rPr>
              <a:t>Paghi con la carta, in modo sicuro: il pagamento passa da Stripe, noi non vediamo i tuoi dati.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03591" y="1501077"/>
            <a:ext cx="355599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7A4F5E"/>
                </a:solidFill>
                <a:latin typeface="Outfit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0284" y="1501077"/>
            <a:ext cx="2590794" cy="1321888"/>
          </a:xfrm>
          <a:prstGeom prst="rect">
            <a:avLst/>
          </a:prstGeom>
          <a:noFill/>
          <a:ln w="19050">
            <a:solidFill>
              <a:srgbClr val="C48A3A"/>
            </a:solidFill>
          </a:ln>
        </p:spPr>
        <p:txBody>
          <a:bodyPr wrap="square" lIns="114300" rIns="114300" tIns="50800" bIns="5080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50" b="0" i="0">
                <a:solidFill>
                  <a:srgbClr val="3A3532"/>
                </a:solidFill>
                <a:latin typeface="Outfit"/>
              </a:rPr>
              <a:t>Ricevi subito una mail con il link per attivare il tuo accesso e scegliere la password.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0284" y="1501077"/>
            <a:ext cx="355599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7A4F5E"/>
                </a:solidFill>
                <a:latin typeface="Outfit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16977" y="1501077"/>
            <a:ext cx="2590794" cy="1321888"/>
          </a:xfrm>
          <a:prstGeom prst="rect">
            <a:avLst/>
          </a:prstGeom>
          <a:noFill/>
          <a:ln w="19050">
            <a:solidFill>
              <a:srgbClr val="C48A3A"/>
            </a:solidFill>
          </a:ln>
        </p:spPr>
        <p:txBody>
          <a:bodyPr wrap="square" lIns="114300" rIns="114300" tIns="50800" bIns="5080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50" b="0" i="0">
                <a:solidFill>
                  <a:srgbClr val="3A3532"/>
                </a:solidFill>
                <a:latin typeface="Outfit"/>
              </a:rPr>
              <a:t>Sei dentro: lezioni, registrazioni, materiali e forum nella tua area riservata.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16977" y="1501077"/>
            <a:ext cx="355599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7A4F5E"/>
                </a:solidFill>
                <a:latin typeface="Outfit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899" y="5605845"/>
            <a:ext cx="1532231" cy="6679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6B625D"/>
                </a:solidFill>
                <a:latin typeface="Outfit"/>
              </a:rPr>
              <a:t>un semestre, 10 lezioni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6899" y="5605845"/>
            <a:ext cx="1532231" cy="419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500" b="1" i="0">
                <a:solidFill>
                  <a:srgbClr val="3A3532"/>
                </a:solidFill>
                <a:latin typeface="Playfair Display"/>
              </a:rPr>
              <a:t>700 €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99029" y="5605845"/>
            <a:ext cx="2107401" cy="6679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6B625D"/>
                </a:solidFill>
                <a:latin typeface="Outfit"/>
              </a:rPr>
              <a:t>il percorso completo, 20 lezioni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99029" y="5605845"/>
            <a:ext cx="2107401" cy="419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500" b="1" i="0">
                <a:solidFill>
                  <a:srgbClr val="3A3532"/>
                </a:solidFill>
                <a:latin typeface="Playfair Display"/>
              </a:rPr>
              <a:t>1.200 €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69007" y="6070585"/>
            <a:ext cx="3838764" cy="203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i="0">
                <a:solidFill>
                  <a:srgbClr val="7A4F5E"/>
                </a:solidFill>
                <a:latin typeface="Outfit"/>
              </a:rPr>
              <a:t>valentinarussobg5.com/corso-base-human-design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6899" y="6426184"/>
            <a:ext cx="170854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625D"/>
                </a:solidFill>
                <a:latin typeface="Outfit"/>
              </a:rPr>
              <a:t>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60545" y="6407134"/>
            <a:ext cx="1266227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8" y="1943095"/>
            <a:ext cx="5359387" cy="3054342"/>
          </a:xfrm>
          <a:prstGeom prst="rect">
            <a:avLst/>
          </a:prstGeom>
        </p:spPr>
      </p:pic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2984" y="1943095"/>
            <a:ext cx="5359387" cy="3054342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2648" y="6349984"/>
            <a:ext cx="292099" cy="292099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6899" y="444499"/>
            <a:ext cx="11010872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7A4F5E"/>
                </a:solidFill>
                <a:latin typeface="Outfit"/>
              </a:rPr>
              <a:t>ISTRUZIONI PER L'ISCRIZIONE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698498"/>
            <a:ext cx="11010872" cy="4850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 b="1" i="0">
                <a:solidFill>
                  <a:srgbClr val="3A3532"/>
                </a:solidFill>
                <a:latin typeface="Playfair Display"/>
              </a:rPr>
              <a:t>Come funziona l'area riservata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6899" y="5103701"/>
            <a:ext cx="5397487" cy="4494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3A3532"/>
                </a:solidFill>
                <a:latin typeface="Outfit"/>
              </a:rPr>
              <a:t>La tua classe: le lezioni in ordine, ognuna con la registrazione da rivedere e scaricare, e i materiali.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0284" y="5103701"/>
            <a:ext cx="5397487" cy="243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3A3532"/>
                </a:solidFill>
                <a:latin typeface="Outfit"/>
              </a:rPr>
              <a:t>Il forum della classe: qui carichi gli esercizi e Valentina ti risponde.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6899" y="6022365"/>
            <a:ext cx="11010872" cy="2514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532"/>
                </a:solidFill>
                <a:latin typeface="Outfit"/>
              </a:rPr>
              <a:t>Insieme all'accesso ricevi per mail un breve video con le istruzioni del portale.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6899" y="6426184"/>
            <a:ext cx="176311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625D"/>
                </a:solidFill>
                <a:latin typeface="Outfit"/>
              </a:rPr>
              <a:t>28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0545" y="6407134"/>
            <a:ext cx="1266227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353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8998" y="6349984"/>
            <a:ext cx="292099" cy="29209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312952" y="2755893"/>
            <a:ext cx="1578666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 i="0">
                <a:solidFill>
                  <a:srgbClr val="FBF7F5"/>
                </a:solidFill>
                <a:latin typeface="Outfit"/>
              </a:rPr>
              <a:t>ULTIMO PASSAGGIO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6873" y="3086092"/>
            <a:ext cx="6890824" cy="8762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0" b="1" i="0">
                <a:solidFill>
                  <a:srgbClr val="FBF7F5"/>
                </a:solidFill>
                <a:latin typeface="Playfair Display"/>
              </a:rPr>
              <a:t>Domande e risposte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6899" y="6426184"/>
            <a:ext cx="177899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8E8580"/>
                </a:solidFill>
                <a:latin typeface="Outfit"/>
              </a:rPr>
              <a:t>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0545" y="6407134"/>
            <a:ext cx="1266227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8E8580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353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71499"/>
            <a:ext cx="4508489" cy="5714986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319395" y="2375390"/>
            <a:ext cx="2288376" cy="8762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0" b="1" i="0">
                <a:solidFill>
                  <a:srgbClr val="FBF7F5"/>
                </a:solidFill>
                <a:latin typeface="Playfair Display"/>
              </a:rPr>
              <a:t>Grazie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6961" y="3429488"/>
            <a:ext cx="3210810" cy="4282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</a:pPr>
            <a:r>
              <a:rPr sz="3600" b="0" i="1">
                <a:solidFill>
                  <a:srgbClr val="C9BFB8"/>
                </a:solidFill>
                <a:latin typeface="IM Fell English"/>
              </a:rPr>
              <a:t>A mete eccelse per anguste vie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15561" y="4073614"/>
            <a:ext cx="1192210" cy="2691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40000"/>
              </a:lnSpc>
            </a:pPr>
            <a:r>
              <a:rPr sz="1950" b="0" i="0">
                <a:solidFill>
                  <a:srgbClr val="FBF7F5"/>
                </a:solidFill>
                <a:latin typeface="Outfit"/>
              </a:rPr>
              <a:t>Valentina Russo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6515084"/>
            <a:ext cx="188416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8E8580"/>
                </a:solidFill>
                <a:latin typeface="Outfit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0545" y="6407134"/>
            <a:ext cx="1266227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8E8580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